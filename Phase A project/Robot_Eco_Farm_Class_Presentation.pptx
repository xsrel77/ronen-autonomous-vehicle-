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12192000"/>
  <p:embeddedFontLst>
    <p:embeddedFont>
      <p:font typeface="Raleway Thin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gcVjbV7JgbTmSjHV8ZaNR9ykT4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1C39A8-71B7-4856-A489-9C9E2DEE065B}">
  <a:tblStyle styleId="{BE1C39A8-71B7-4856-A489-9C9E2DEE065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Thin-regular.fntdata"/><Relationship Id="rId25" Type="http://schemas.openxmlformats.org/officeDocument/2006/relationships/slide" Target="slides/slide20.xml"/><Relationship Id="rId28" Type="http://schemas.openxmlformats.org/officeDocument/2006/relationships/font" Target="fonts/RalewayThin-italic.fntdata"/><Relationship Id="rId27" Type="http://schemas.openxmlformats.org/officeDocument/2006/relationships/font" Target="fonts/RalewayThin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Thin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" name="Google Shape;11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User report: Phase A - Robot Eco Farm (3).docx (figures + text)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12" name="Google Shape;12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bb80075d25_0_4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g3bb80075d25_0_4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User report: Phase A - Robot Eco Farm (3).docx (figures + text)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26" name="Google Shape;26;g3bb80075d25_0_4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User report: Phase A - Robot Eco Farm (3).docx (Introduction + Figure 1)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48" name="Google Shape;4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User report: Phase A - Robot Eco Farm (3).docx (Section 2.1 + Figure 1)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User report: Phase A - Robot Eco Farm (3).docx (Aim/Contribution + Figure 3)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ded8d5a8f_0_4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ded8d5a8f_0_4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b80075d25_0_13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b80075d25_0_13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User report: Phase A - Robot Eco Farm (3).docx (Section 3.1.3: 1–3 FPS without accelerator; 20–30 FPS with Hailo‑8)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130" name="Google Shape;13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b80075d25_0_7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b80075d25_0_7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b80075d25_0_24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b80075d25_0_24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User report: Phase A - Robot Eco Farm (3).docx (Section 2.2.1 + Figures 2)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231" name="Google Shape;23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df25fee85_0_5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g3bdf25fee85_0_5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User report: Phase A - Robot Eco Farm (3).docx (Section 3.1.3: YOLOv8s choice, datasets, 640×640)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252" name="Google Shape;252;g3bdf25fee85_0_5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bb80075d25_0_4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g3bb80075d25_0_4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User report: Phase A - Robot Eco Farm (3).docx (Section 3.1.4: LiDAR+IMU navigation + targets)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264" name="Google Shape;264;g3bb80075d25_0_4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User report: Phase A - Robot Eco Farm (3).docx (Section 3.1.4: LiDAR+IMU navigation + targets)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297" name="Google Shape;29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User report: Phase A - Robot Eco Farm (3).docx (Section 3.1.5: robot ↔ server/website integration, 4G modem)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318" name="Google Shape;318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User report: Phase A - Robot Eco Farm (3).docx (Section 3.3.1 ROS 2 + planned nodes; use case figure)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344" name="Google Shape;344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bdf25fee85_0_19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5" name="Google Shape;355;g3bdf25fee85_0_19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User report: Phase A - Robot Eco Farm (3).docx (Section 3.1.4: LiDAR+IMU navigation + targets)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356" name="Google Shape;356;g3bdf25fee85_0_19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" name="Google Shape;410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User report: Phase A - Robot Eco Farm (3).docx (Section 3.2 requirements table + metrics targets)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411" name="Google Shape;411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2" name="Google Shape;432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User report: Phase A - Robot Eco Farm (3).docx (Section 3.1 progress subsections)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433" name="Google Shape;433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8" name="Google Shape;448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User report: Phase A - Robot Eco Farm (3).docx (Phase B targets + tests/metrics section)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</p:txBody>
      </p:sp>
      <p:sp>
        <p:nvSpPr>
          <p:cNvPr id="449" name="Google Shape;449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hyperlink" Target="https://github.com/xsrel77/Ronen-Autonomous-Vehicle-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5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9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9.png"/><Relationship Id="rId4" Type="http://schemas.openxmlformats.org/officeDocument/2006/relationships/image" Target="../media/image10.png"/><Relationship Id="rId11" Type="http://schemas.openxmlformats.org/officeDocument/2006/relationships/image" Target="../media/image26.png"/><Relationship Id="rId10" Type="http://schemas.openxmlformats.org/officeDocument/2006/relationships/image" Target="../media/image17.png"/><Relationship Id="rId9" Type="http://schemas.openxmlformats.org/officeDocument/2006/relationships/image" Target="../media/image18.png"/><Relationship Id="rId5" Type="http://schemas.openxmlformats.org/officeDocument/2006/relationships/image" Target="../media/image2.png"/><Relationship Id="rId6" Type="http://schemas.openxmlformats.org/officeDocument/2006/relationships/image" Target="../media/image15.png"/><Relationship Id="rId7" Type="http://schemas.openxmlformats.org/officeDocument/2006/relationships/image" Target="../media/image20.png"/><Relationship Id="rId8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Relationship Id="rId11" Type="http://schemas.openxmlformats.org/officeDocument/2006/relationships/image" Target="../media/image38.png"/><Relationship Id="rId10" Type="http://schemas.openxmlformats.org/officeDocument/2006/relationships/image" Target="../media/image31.png"/><Relationship Id="rId9" Type="http://schemas.openxmlformats.org/officeDocument/2006/relationships/image" Target="../media/image37.png"/><Relationship Id="rId5" Type="http://schemas.openxmlformats.org/officeDocument/2006/relationships/image" Target="../media/image33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11" Type="http://schemas.openxmlformats.org/officeDocument/2006/relationships/image" Target="../media/image46.png"/><Relationship Id="rId10" Type="http://schemas.openxmlformats.org/officeDocument/2006/relationships/image" Target="../media/image50.png"/><Relationship Id="rId12" Type="http://schemas.openxmlformats.org/officeDocument/2006/relationships/image" Target="../media/image45.png"/><Relationship Id="rId9" Type="http://schemas.openxmlformats.org/officeDocument/2006/relationships/image" Target="../media/image39.png"/><Relationship Id="rId5" Type="http://schemas.openxmlformats.org/officeDocument/2006/relationships/image" Target="../media/image36.png"/><Relationship Id="rId6" Type="http://schemas.openxmlformats.org/officeDocument/2006/relationships/image" Target="../media/image32.png"/><Relationship Id="rId7" Type="http://schemas.openxmlformats.org/officeDocument/2006/relationships/image" Target="../media/image40.png"/><Relationship Id="rId8" Type="http://schemas.openxmlformats.org/officeDocument/2006/relationships/image" Target="../media/image4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phaseA_docx_media/word/media/image1.png" id="15" name="Google Shape;1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130" y="411480"/>
            <a:ext cx="387366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/>
          <p:nvPr/>
        </p:nvSpPr>
        <p:spPr>
          <a:xfrm>
            <a:off x="1102740" y="1872525"/>
            <a:ext cx="5486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Robot Eco Farm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51" y="2651750"/>
            <a:ext cx="6040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2000"/>
              <a:buFont typeface="Calibri"/>
              <a:buNone/>
            </a:pPr>
            <a:r>
              <a:rPr lang="en-US" sz="180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Autonomous greenhouse monitoring robot (Phase A)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3749040"/>
            <a:ext cx="5486400" cy="1463040"/>
          </a:xfrm>
          <a:prstGeom prst="roundRect">
            <a:avLst>
              <a:gd fmla="val 16667" name="adj"/>
            </a:avLst>
          </a:prstGeom>
          <a:solidFill>
            <a:srgbClr val="E9F6EE"/>
          </a:solidFill>
          <a:ln cap="flat" cmpd="sng" w="12700">
            <a:solidFill>
              <a:srgbClr val="BFE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9" y="3931863"/>
            <a:ext cx="5486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6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code: 26-1-R-6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6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Israel Ohayun </a:t>
            </a:r>
            <a:endParaRPr sz="18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600"/>
              <a:buFont typeface="Calibri"/>
              <a:buNone/>
            </a:pPr>
            <a:r>
              <a:rPr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Advisors : Dr. Naomi Unkelos‑Shpigel, Mr. Uzi Rosen</a:t>
            </a:r>
            <a:endParaRPr sz="18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0725" y="-30650"/>
            <a:ext cx="6128967" cy="6919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1"/>
          <p:cNvSpPr txBox="1"/>
          <p:nvPr/>
        </p:nvSpPr>
        <p:spPr>
          <a:xfrm>
            <a:off x="101313" y="5536000"/>
            <a:ext cx="6206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to GitHub: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https://github.com/xsrel77/Ronen-Autonomous-Vehicle-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bb80075d25_0_443"/>
          <p:cNvSpPr/>
          <p:nvPr/>
        </p:nvSpPr>
        <p:spPr>
          <a:xfrm>
            <a:off x="109801" y="706575"/>
            <a:ext cx="3221400" cy="567000"/>
          </a:xfrm>
          <a:prstGeom prst="roundRect">
            <a:avLst>
              <a:gd fmla="val 16667" name="adj"/>
            </a:avLst>
          </a:prstGeom>
          <a:solidFill>
            <a:srgbClr val="E9F6EE"/>
          </a:solidFill>
          <a:ln cap="flat" cmpd="sng" w="12700">
            <a:solidFill>
              <a:srgbClr val="BFE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bb80075d25_0_443"/>
          <p:cNvSpPr/>
          <p:nvPr/>
        </p:nvSpPr>
        <p:spPr>
          <a:xfrm>
            <a:off x="228600" y="3602125"/>
            <a:ext cx="5152200" cy="2735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89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  <a:effectLst>
            <a:outerShdw blurRad="17901" rotWithShape="0" algn="bl" dir="2700000" dist="17901">
              <a:srgbClr val="000000">
                <a:alpha val="11760"/>
              </a:srgbClr>
            </a:outerShdw>
          </a:effectLst>
        </p:spPr>
        <p:txBody>
          <a:bodyPr anchorCtr="0" anchor="t" bIns="32200" lIns="64450" spcFirstLastPara="1" rIns="64450" wrap="square" tIns="32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bb80075d25_0_443"/>
          <p:cNvSpPr/>
          <p:nvPr/>
        </p:nvSpPr>
        <p:spPr>
          <a:xfrm>
            <a:off x="6905125" y="3602125"/>
            <a:ext cx="5152200" cy="2735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89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  <a:effectLst>
            <a:outerShdw blurRad="17901" rotWithShape="0" algn="bl" dir="2700000" dist="17901">
              <a:srgbClr val="000000">
                <a:alpha val="11760"/>
              </a:srgbClr>
            </a:outerShdw>
          </a:effectLst>
        </p:spPr>
        <p:txBody>
          <a:bodyPr anchorCtr="0" anchor="t" bIns="32200" lIns="64450" spcFirstLastPara="1" rIns="64450" wrap="square" tIns="32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g3bb80075d25_0_443"/>
          <p:cNvSpPr/>
          <p:nvPr/>
        </p:nvSpPr>
        <p:spPr>
          <a:xfrm>
            <a:off x="9512100" y="664638"/>
            <a:ext cx="1693800" cy="567000"/>
          </a:xfrm>
          <a:prstGeom prst="roundRect">
            <a:avLst>
              <a:gd fmla="val 16667" name="adj"/>
            </a:avLst>
          </a:prstGeom>
          <a:solidFill>
            <a:srgbClr val="E9F6EE"/>
          </a:solidFill>
          <a:ln cap="flat" cmpd="sng" w="12700">
            <a:solidFill>
              <a:srgbClr val="BFE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g3bb80075d25_0_44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g3bb80075d25_0_4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875" y="1413150"/>
            <a:ext cx="1910750" cy="207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g3bb80075d25_0_443"/>
          <p:cNvPicPr preferRelativeResize="0"/>
          <p:nvPr/>
        </p:nvPicPr>
        <p:blipFill rotWithShape="1">
          <a:blip r:embed="rId4">
            <a:alphaModFix/>
          </a:blip>
          <a:srcRect b="19126" l="0" r="0" t="0"/>
          <a:stretch/>
        </p:blipFill>
        <p:spPr>
          <a:xfrm>
            <a:off x="9386375" y="1329274"/>
            <a:ext cx="1819525" cy="227285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g3bb80075d25_0_443"/>
          <p:cNvSpPr txBox="1"/>
          <p:nvPr/>
        </p:nvSpPr>
        <p:spPr>
          <a:xfrm>
            <a:off x="899410" y="4122295"/>
            <a:ext cx="359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6" name="Google Shape;36;g3bb80075d25_0_443"/>
          <p:cNvSpPr/>
          <p:nvPr/>
        </p:nvSpPr>
        <p:spPr>
          <a:xfrm>
            <a:off x="169650" y="3700870"/>
            <a:ext cx="5057100" cy="26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Farm Manager: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Keren manages the farm in Karmiel where our project is planned to be deployed.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System Issues: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Most of the time, there is no health check of the lettuce seedlings in the greenhouse.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Customer Requirement: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 system that will independently test and present conclusions on a dedicated website.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bb80075d25_0_443"/>
          <p:cNvSpPr/>
          <p:nvPr/>
        </p:nvSpPr>
        <p:spPr>
          <a:xfrm>
            <a:off x="7134600" y="3717850"/>
            <a:ext cx="5057100" cy="28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Role: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Uzi, a mechanical engineering lecturer, bridges between the software team and the mechanical team.</a:t>
            </a:r>
            <a:endParaRPr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Support</a:t>
            </a:r>
            <a:r>
              <a:rPr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He supervises students who work as required, both from software and from machines.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Knowledge support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: Provides infrastructure for the MQTT server and information on working with sensors and mechanics.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g3bb80075d25_0_443"/>
          <p:cNvSpPr txBox="1"/>
          <p:nvPr/>
        </p:nvSpPr>
        <p:spPr>
          <a:xfrm>
            <a:off x="325373" y="805425"/>
            <a:ext cx="291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Keren Bensamhon Meshrki</a:t>
            </a:r>
            <a:endParaRPr b="1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bb80075d25_0_443"/>
          <p:cNvSpPr txBox="1"/>
          <p:nvPr/>
        </p:nvSpPr>
        <p:spPr>
          <a:xfrm>
            <a:off x="9783773" y="711788"/>
            <a:ext cx="135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Uzi Rosen</a:t>
            </a:r>
            <a:endParaRPr b="1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g3bb80075d25_0_443"/>
          <p:cNvSpPr/>
          <p:nvPr/>
        </p:nvSpPr>
        <p:spPr>
          <a:xfrm>
            <a:off x="0" y="0"/>
            <a:ext cx="12191700" cy="56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g3bb80075d25_0_443"/>
          <p:cNvSpPr/>
          <p:nvPr/>
        </p:nvSpPr>
        <p:spPr>
          <a:xfrm>
            <a:off x="0" y="0"/>
            <a:ext cx="109800" cy="567000"/>
          </a:xfrm>
          <a:prstGeom prst="rect">
            <a:avLst/>
          </a:prstGeom>
          <a:solidFill>
            <a:srgbClr val="1B7F3A"/>
          </a:solidFill>
          <a:ln cap="flat" cmpd="sng" w="12700">
            <a:solidFill>
              <a:srgbClr val="1B7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bb80075d25_0_443"/>
          <p:cNvSpPr/>
          <p:nvPr/>
        </p:nvSpPr>
        <p:spPr>
          <a:xfrm>
            <a:off x="228600" y="109728"/>
            <a:ext cx="8686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Stakeholders and Real-World Context</a:t>
            </a:r>
            <a:endParaRPr b="1" sz="22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3bb80075d25_0_443"/>
          <p:cNvSpPr/>
          <p:nvPr/>
        </p:nvSpPr>
        <p:spPr>
          <a:xfrm>
            <a:off x="8961120" y="146304"/>
            <a:ext cx="3017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Greenhouse monitoring is hard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phaseA_docx_media/word/media/image2.png" id="44" name="Google Shape;44;g3bb80075d25_0_443"/>
          <p:cNvPicPr preferRelativeResize="0"/>
          <p:nvPr/>
        </p:nvPicPr>
        <p:blipFill rotWithShape="1">
          <a:blip r:embed="rId5">
            <a:alphaModFix/>
          </a:blip>
          <a:srcRect b="0" l="15316" r="15316" t="0"/>
          <a:stretch/>
        </p:blipFill>
        <p:spPr>
          <a:xfrm>
            <a:off x="3855090" y="757750"/>
            <a:ext cx="4883773" cy="275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1B7F3A"/>
          </a:solidFill>
          <a:ln cap="flat" cmpd="sng" w="12700">
            <a:solidFill>
              <a:srgbClr val="1B7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228600" y="109728"/>
            <a:ext cx="8686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Problem: Limitations of Manual Greenhouse Monitoring</a:t>
            </a:r>
            <a:endParaRPr b="1" sz="22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961120" y="146304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Greenhouse monitoring is hard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phaseA_docx_media/word/media/image2.png" id="54" name="Google Shape;54;p2"/>
          <p:cNvPicPr preferRelativeResize="0"/>
          <p:nvPr/>
        </p:nvPicPr>
        <p:blipFill rotWithShape="1">
          <a:blip r:embed="rId3">
            <a:alphaModFix/>
          </a:blip>
          <a:srcRect b="0" l="15316" r="15315" t="0"/>
          <a:stretch/>
        </p:blipFill>
        <p:spPr>
          <a:xfrm>
            <a:off x="5425500" y="849488"/>
            <a:ext cx="6766501" cy="381342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/>
          <p:nvPr/>
        </p:nvSpPr>
        <p:spPr>
          <a:xfrm>
            <a:off x="155500" y="661375"/>
            <a:ext cx="5179800" cy="608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25400">
              <a:srgbClr val="000000">
                <a:alpha val="1176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>
              <a:solidFill>
                <a:srgbClr val="787878"/>
              </a:solidFill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287200" y="1133325"/>
            <a:ext cx="4925100" cy="732300"/>
          </a:xfrm>
          <a:prstGeom prst="roundRect">
            <a:avLst>
              <a:gd fmla="val 16667" name="adj"/>
            </a:avLst>
          </a:prstGeom>
          <a:solidFill>
            <a:srgbClr val="E9F6EE"/>
          </a:solidFill>
          <a:ln cap="flat" cmpd="sng" w="12700">
            <a:solidFill>
              <a:srgbClr val="BFE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245700" y="1105375"/>
            <a:ext cx="517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Manual checks are slow→ problems are found late</a:t>
            </a:r>
            <a:endParaRPr sz="18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09725" y="2390975"/>
            <a:ext cx="5258100" cy="22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Weeds compete with the crop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Leaf disease can spread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rot reduces yield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349690" y="4662905"/>
            <a:ext cx="6766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Real greenhouse in Karmiel (community farm)</a:t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5349700" y="5173350"/>
            <a:ext cx="6603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[1] Elstone., et al. (2020). High speed crop and weed identification in lettuce fields for precision weeding. Sensors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[2] Goyal., et al. (2025). Weed detection using deep learning in complex and highly occluded potato field environment.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[3] Abbasi., et al. (2023). Crop diagnostic system: A robust disease detection and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smanagement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system for leafy green crops.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[4] Mohanty, et al. (2016). Using deep learning for image-based plant disease detection. Frontiers in Plant Science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/>
          <p:nvPr/>
        </p:nvSpPr>
        <p:spPr>
          <a:xfrm>
            <a:off x="109725" y="566925"/>
            <a:ext cx="5085600" cy="6311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25400">
              <a:srgbClr val="000000">
                <a:alpha val="117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9000" y="652725"/>
            <a:ext cx="6896275" cy="4797617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1B7F3A"/>
          </a:solidFill>
          <a:ln cap="flat" cmpd="sng" w="12700">
            <a:solidFill>
              <a:srgbClr val="1B7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228600" y="109725"/>
            <a:ext cx="4570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Constraints found in previous studies</a:t>
            </a:r>
            <a:endParaRPr b="1" sz="22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8961120" y="146304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Community Farm in Karmiel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301675" y="1784425"/>
            <a:ext cx="5085600" cy="43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•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long planters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Changing light + occlusion</a:t>
            </a:r>
            <a:endParaRPr sz="18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Indoor greenhouse environment </a:t>
            </a:r>
            <a:endParaRPr sz="18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Narrow corridors between planter rows </a:t>
            </a:r>
            <a:endParaRPr sz="18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Dynamic, plant-heavy scene </a:t>
            </a:r>
            <a:endParaRPr sz="18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800"/>
              </a:spcAft>
              <a:buNone/>
            </a:pPr>
            <a:b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operation is important for field usability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timely decisions (fast perception loop).</a:t>
            </a:r>
            <a:endParaRPr sz="18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5291425" y="5636725"/>
            <a:ext cx="70023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[1] Macenski, S., &amp; Jambrecic, I. (2021). SLAM Toolbox: SLAM for the dynamic world. JOSS.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[2] Li, Q., &amp; Zhu, H. (2024). Performance Evaluation of LiDAR SLAM Algorithms in 2D Simulated Orchard Environments.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[3] Yoo, H., Baek, D., &amp; Choi, S.-g. (2024). Path Navigation Following Platform for Greenhouse Shuttle Robot Using State Flow Method.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[4] Goyal, R., Nath, A., &amp; Niranjan, U. (2025). Weed detection using deep learning in complex and highly occluded potato field environment.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[5] Elstone, L., et al. (2020). High Speed Crop and Weed Identification in Lettuce Fields for Precision Weeding. Sensors.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301675" y="1059650"/>
            <a:ext cx="1570200" cy="525000"/>
          </a:xfrm>
          <a:prstGeom prst="roundRect">
            <a:avLst>
              <a:gd fmla="val 16667" name="adj"/>
            </a:avLst>
          </a:prstGeom>
          <a:solidFill>
            <a:srgbClr val="E9F6EE"/>
          </a:solidFill>
          <a:ln cap="flat" cmpd="sng" w="12700">
            <a:solidFill>
              <a:srgbClr val="BFE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392700" y="1059650"/>
            <a:ext cx="13020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200"/>
              <a:buFont typeface="Calibri"/>
              <a:buNone/>
            </a:pPr>
            <a:r>
              <a:rPr b="1"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Constraints 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1B7F3A"/>
          </a:solidFill>
          <a:ln cap="flat" cmpd="sng" w="12700">
            <a:solidFill>
              <a:srgbClr val="1B7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228600" y="109728"/>
            <a:ext cx="8686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Project Goal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8961120" y="146304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What we build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48650" y="960125"/>
            <a:ext cx="11106000" cy="2082900"/>
          </a:xfrm>
          <a:prstGeom prst="roundRect">
            <a:avLst>
              <a:gd fmla="val 16667" name="adj"/>
            </a:avLst>
          </a:prstGeom>
          <a:solidFill>
            <a:srgbClr val="E9F6EE"/>
          </a:solidFill>
          <a:ln cap="flat" cmpd="sng" w="12700">
            <a:solidFill>
              <a:srgbClr val="BFE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868680" y="1234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400"/>
              <a:buFont typeface="Calibri"/>
              <a:buNone/>
            </a:pPr>
            <a:r>
              <a:rPr b="1"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An autonomous 4×4 robot that: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868680" y="1874520"/>
            <a:ext cx="4755000" cy="15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3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Scans each greenhouse row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Detects weeds, disease, and rot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Uploads results to a web dashboard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phaseA_docx_media/word/media/image13.png" id="90" name="Google Shape;9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4950" y="3160938"/>
            <a:ext cx="8220100" cy="31863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"/>
          <p:cNvSpPr/>
          <p:nvPr/>
        </p:nvSpPr>
        <p:spPr>
          <a:xfrm>
            <a:off x="4565065" y="6465235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200"/>
              <a:buFont typeface="Calibri"/>
              <a:buNone/>
            </a:pPr>
            <a:r>
              <a:rPr b="1" lang="en-U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End-to-end workflow: research → robot → web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" name="Google Shape;97;g3bded8d5a8f_0_44"/>
          <p:cNvGraphicFramePr/>
          <p:nvPr/>
        </p:nvGraphicFramePr>
        <p:xfrm>
          <a:off x="109950" y="54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{BE1C39A8-71B7-4856-A489-9C9E2DEE065B}</a:tableStyleId>
              </a:tblPr>
              <a:tblGrid>
                <a:gridCol w="1952975"/>
                <a:gridCol w="4232450"/>
                <a:gridCol w="5508850"/>
              </a:tblGrid>
              <a:tr h="40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Area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 (Atomic)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NFR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560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Field Operation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1.Robot Scan corridors row-by-row. 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Robot 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 greenhouse map during scanning.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Performance: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Full scan cycle time ≤ </a:t>
                      </a: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 min</a:t>
                      </a:r>
                      <a:endParaRPr b="1"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Reliability: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Map creation completes without crash for </a:t>
                      </a: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 95%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of missions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60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Perception (Detection)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Robot 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Detect: Person, Healthy Lettuce, Leaf Disease, Weed, Soil Rot.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Detection quality: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mAP@0.5 ≥ </a:t>
                      </a: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(Healthy), ≥ </a:t>
                      </a: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(Leaf Disease), ≥ </a:t>
                      </a: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(Weed)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Runtime: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Inference ≥ </a:t>
                      </a: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 FPS @ 640×640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(Pi 5 + Hailo-8)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48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Events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Robot 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 abnormal events when Weed or Leaf Disease is detected.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Confidence threshold: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Abnormal-event logged only if confidence ≥ </a:t>
                      </a: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(configurable)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Reliability: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No missing abnormal events in upload queue (buffering enabled)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85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Navigation &amp; Localization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Robot 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Center in corridor (LiDAR). 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Robot 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stop on obstacle.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Accuracy: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Lateral corridor error: mean ≤ </a:t>
                      </a: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cm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max ≤ </a:t>
                      </a: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 cm</a:t>
                      </a:r>
                      <a:endParaRPr b="1"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Safety: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Obstacle detection at ≥ </a:t>
                      </a: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 m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stop distance ≤ </a:t>
                      </a: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 m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1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Integration &amp; UI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Robot 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Upload abnormal events. 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Robot 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store logs locally. 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9.display events on web dashboard. 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Robot 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 manual teleoperation.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Latency: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Avg upload latency ≤ </a:t>
                      </a: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s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95% delivered ≤ </a:t>
                      </a: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 s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(4G)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Reliability: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No data loss for disconnections up to </a:t>
                      </a: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 min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(buffering)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Edge AI / Security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.Run inference on robot.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12.authenticate users for dashboard.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 control: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Dashboard access requires </a:t>
                      </a: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authenticated user</a:t>
                      </a: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(Firebase Auth)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8" name="Google Shape;98;g3bded8d5a8f_0_44"/>
          <p:cNvSpPr/>
          <p:nvPr/>
        </p:nvSpPr>
        <p:spPr>
          <a:xfrm>
            <a:off x="150" y="0"/>
            <a:ext cx="12191700" cy="476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bded8d5a8f_0_44"/>
          <p:cNvSpPr txBox="1"/>
          <p:nvPr/>
        </p:nvSpPr>
        <p:spPr>
          <a:xfrm>
            <a:off x="185025" y="-46500"/>
            <a:ext cx="5423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requirements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bded8d5a8f_0_44"/>
          <p:cNvSpPr/>
          <p:nvPr/>
        </p:nvSpPr>
        <p:spPr>
          <a:xfrm>
            <a:off x="150" y="0"/>
            <a:ext cx="109800" cy="476700"/>
          </a:xfrm>
          <a:prstGeom prst="rect">
            <a:avLst/>
          </a:prstGeom>
          <a:solidFill>
            <a:srgbClr val="0000FF"/>
          </a:solidFill>
          <a:ln cap="flat" cmpd="sng" w="127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bded8d5a8f_0_4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b80075d25_0_136"/>
          <p:cNvSpPr/>
          <p:nvPr/>
        </p:nvSpPr>
        <p:spPr>
          <a:xfrm>
            <a:off x="150" y="0"/>
            <a:ext cx="12191700" cy="56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bb80075d25_0_136"/>
          <p:cNvSpPr txBox="1"/>
          <p:nvPr/>
        </p:nvSpPr>
        <p:spPr>
          <a:xfrm>
            <a:off x="245100" y="21900"/>
            <a:ext cx="185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 AI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bb80075d25_0_136"/>
          <p:cNvSpPr txBox="1"/>
          <p:nvPr/>
        </p:nvSpPr>
        <p:spPr>
          <a:xfrm>
            <a:off x="9106850" y="988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05A64"/>
                </a:solidFill>
                <a:latin typeface="Calibri"/>
                <a:ea typeface="Calibri"/>
                <a:cs typeface="Calibri"/>
                <a:sym typeface="Calibri"/>
              </a:rPr>
              <a:t>What it is &amp; why it matters</a:t>
            </a:r>
            <a:endParaRPr sz="1200">
              <a:solidFill>
                <a:srgbClr val="505A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bb80075d25_0_136"/>
          <p:cNvSpPr/>
          <p:nvPr/>
        </p:nvSpPr>
        <p:spPr>
          <a:xfrm>
            <a:off x="150" y="0"/>
            <a:ext cx="109800" cy="567000"/>
          </a:xfrm>
          <a:prstGeom prst="rect">
            <a:avLst/>
          </a:prstGeom>
          <a:solidFill>
            <a:srgbClr val="1B7F3A"/>
          </a:solidFill>
          <a:ln cap="flat" cmpd="sng" w="12700">
            <a:solidFill>
              <a:srgbClr val="1B7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g3bb80075d25_0_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088" y="727438"/>
            <a:ext cx="5555650" cy="317787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bb80075d25_0_136"/>
          <p:cNvSpPr txBox="1"/>
          <p:nvPr/>
        </p:nvSpPr>
        <p:spPr>
          <a:xfrm>
            <a:off x="596000" y="1881225"/>
            <a:ext cx="51582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 AI = running AI inference on the device (the robot),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instead of sending images to a remote cloud server.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Decisions happen locally (real-time).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events/metadata need to be uploaded.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bb80075d25_0_136"/>
          <p:cNvSpPr/>
          <p:nvPr/>
        </p:nvSpPr>
        <p:spPr>
          <a:xfrm>
            <a:off x="468238" y="1018563"/>
            <a:ext cx="5158200" cy="743400"/>
          </a:xfrm>
          <a:prstGeom prst="roundRect">
            <a:avLst>
              <a:gd fmla="val 16667" name="adj"/>
            </a:avLst>
          </a:prstGeom>
          <a:solidFill>
            <a:srgbClr val="BFE6C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bb80075d25_0_136"/>
          <p:cNvSpPr txBox="1"/>
          <p:nvPr/>
        </p:nvSpPr>
        <p:spPr>
          <a:xfrm>
            <a:off x="595988" y="1159413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Edge AI?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g3bb80075d25_0_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1263" y="727438"/>
            <a:ext cx="5555650" cy="314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bb80075d25_0_136"/>
          <p:cNvSpPr txBox="1"/>
          <p:nvPr/>
        </p:nvSpPr>
        <p:spPr>
          <a:xfrm>
            <a:off x="6614413" y="1881213"/>
            <a:ext cx="53325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latency for safety (stop / manual override).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Works even with unstable 4G coverage.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Lower bandwidth (no continuous video streaming).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privacy (raw images stay on the robot).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Higher reliability (robot keeps scanning offline).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bb80075d25_0_136"/>
          <p:cNvSpPr/>
          <p:nvPr/>
        </p:nvSpPr>
        <p:spPr>
          <a:xfrm>
            <a:off x="6614413" y="1018563"/>
            <a:ext cx="4457400" cy="743400"/>
          </a:xfrm>
          <a:prstGeom prst="roundRect">
            <a:avLst>
              <a:gd fmla="val 16667" name="adj"/>
            </a:avLst>
          </a:prstGeom>
          <a:solidFill>
            <a:srgbClr val="BFE6C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bb80075d25_0_136"/>
          <p:cNvSpPr txBox="1"/>
          <p:nvPr/>
        </p:nvSpPr>
        <p:spPr>
          <a:xfrm>
            <a:off x="6777013" y="1078113"/>
            <a:ext cx="374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use it in our project?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g3bb80075d25_0_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050" y="4103350"/>
            <a:ext cx="6841726" cy="252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bb80075d25_0_136"/>
          <p:cNvSpPr txBox="1"/>
          <p:nvPr/>
        </p:nvSpPr>
        <p:spPr>
          <a:xfrm>
            <a:off x="910900" y="5272200"/>
            <a:ext cx="61683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Raspberry Pi 5 + Hailo-8 accelerator for on-device inference.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 detection model: YOLOv8s @ 640×640 (target ≥ 20 FPS).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Upload abnormal events; buffer locally during disconnections.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bb80075d25_0_136"/>
          <p:cNvSpPr/>
          <p:nvPr/>
        </p:nvSpPr>
        <p:spPr>
          <a:xfrm>
            <a:off x="910900" y="4351050"/>
            <a:ext cx="5158200" cy="7434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bb80075d25_0_136"/>
          <p:cNvSpPr txBox="1"/>
          <p:nvPr/>
        </p:nvSpPr>
        <p:spPr>
          <a:xfrm>
            <a:off x="1038650" y="4491900"/>
            <a:ext cx="57699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Our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</a:t>
            </a:r>
            <a:r>
              <a:rPr b="1" lang="en-US" sz="1800">
                <a:solidFill>
                  <a:schemeClr val="dk1"/>
                </a:solidFill>
              </a:rPr>
              <a:t>(Phase A → Phase B)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22" name="Google Shape;122;g3bb80075d25_0_136"/>
          <p:cNvSpPr/>
          <p:nvPr/>
        </p:nvSpPr>
        <p:spPr>
          <a:xfrm>
            <a:off x="7362925" y="4024575"/>
            <a:ext cx="4279800" cy="2735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8925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  <a:effectLst>
            <a:outerShdw blurRad="17901" rotWithShape="0" algn="bl" dir="2700000" dist="17901">
              <a:srgbClr val="000000">
                <a:alpha val="11760"/>
              </a:srgbClr>
            </a:outerShdw>
          </a:effectLst>
        </p:spPr>
        <p:txBody>
          <a:bodyPr anchorCtr="0" anchor="t" bIns="32200" lIns="64450" spcFirstLastPara="1" rIns="64450" wrap="square" tIns="32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01d003f1-007c-4a3f-bd0f-af7dc950c486.png" id="123" name="Google Shape;123;g3bb80075d25_0_1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11350" y="4236874"/>
            <a:ext cx="2615500" cy="17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bb80075d25_0_136"/>
          <p:cNvSpPr/>
          <p:nvPr/>
        </p:nvSpPr>
        <p:spPr>
          <a:xfrm>
            <a:off x="8263303" y="6052138"/>
            <a:ext cx="2674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200" lIns="64450" spcFirstLastPara="1" rIns="64450" wrap="square" tIns="32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691"/>
              <a:buFont typeface="Calibri"/>
              <a:buNone/>
            </a:pPr>
            <a:r>
              <a:rPr b="1" lang="en-US" sz="16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Raspberry Pi 5 + Hailo‑8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bb80075d25_0_136"/>
          <p:cNvSpPr/>
          <p:nvPr/>
        </p:nvSpPr>
        <p:spPr>
          <a:xfrm>
            <a:off x="8211361" y="6348830"/>
            <a:ext cx="3737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200" lIns="64450" spcFirstLastPara="1" rIns="64450" wrap="square" tIns="32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128"/>
              <a:buFont typeface="Calibri"/>
              <a:buNone/>
            </a:pPr>
            <a:r>
              <a:rPr lang="en-US" sz="1627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Low power • fast inference on-device</a:t>
            </a:r>
            <a:endParaRPr sz="162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bb80075d25_0_13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525" y="507400"/>
            <a:ext cx="6250626" cy="593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0275" y="719400"/>
            <a:ext cx="5730475" cy="4575897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/>
          <p:nvPr/>
        </p:nvSpPr>
        <p:spPr>
          <a:xfrm>
            <a:off x="150" y="0"/>
            <a:ext cx="12191700" cy="56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245100" y="21900"/>
            <a:ext cx="691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Pilot testing performance (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 AI Hailo-8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150" y="0"/>
            <a:ext cx="109800" cy="567000"/>
          </a:xfrm>
          <a:prstGeom prst="rect">
            <a:avLst/>
          </a:prstGeom>
          <a:solidFill>
            <a:srgbClr val="1B7F3A"/>
          </a:solidFill>
          <a:ln cap="flat" cmpd="sng" w="12700">
            <a:solidFill>
              <a:srgbClr val="1B7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8" name="Google Shape;13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74202" y="951194"/>
            <a:ext cx="5402621" cy="384731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4"/>
          <p:cNvSpPr txBox="1"/>
          <p:nvPr/>
        </p:nvSpPr>
        <p:spPr>
          <a:xfrm>
            <a:off x="6980219" y="4766131"/>
            <a:ext cx="2810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5650" lIns="85650" spcFirstLastPara="1" rIns="85650" wrap="square" tIns="856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4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Measured in the final pipeline (approx.)</a:t>
            </a:r>
            <a:endParaRPr sz="1124">
              <a:solidFill>
                <a:srgbClr val="5B64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452975" y="3884700"/>
            <a:ext cx="1678500" cy="4617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470825" y="3803763"/>
            <a:ext cx="193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Key takeaway</a:t>
            </a:r>
            <a:endParaRPr b="1" sz="18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452975" y="4404800"/>
            <a:ext cx="5999100" cy="18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Hailo‑8 makes real‑time detection possible on a small robot.</a:t>
            </a:r>
            <a:endParaRPr b="1" sz="18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•Target: ≥ 20 FPS</a:t>
            </a:r>
            <a:endParaRPr sz="18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•Resolution: 640×640</a:t>
            </a:r>
            <a:endParaRPr sz="18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•Output: box + class + confidence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606725" y="765600"/>
            <a:ext cx="1371000" cy="369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606725" y="719400"/>
            <a:ext cx="123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YOLOv8s </a:t>
            </a:r>
            <a:endParaRPr b="1" sz="18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470825" y="1116800"/>
            <a:ext cx="4727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•Fast object detection (bounding boxes)</a:t>
            </a:r>
            <a:endParaRPr sz="20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•Good quality–speed balance</a:t>
            </a:r>
            <a:endParaRPr sz="20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•Runs on Raspberry Pi 5 + Hailo‑8</a:t>
            </a:r>
            <a:endParaRPr sz="20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825" y="2304613"/>
            <a:ext cx="4201550" cy="93046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4"/>
          <p:cNvSpPr txBox="1"/>
          <p:nvPr/>
        </p:nvSpPr>
        <p:spPr>
          <a:xfrm>
            <a:off x="470825" y="2333500"/>
            <a:ext cx="37482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Training goal:</a:t>
            </a:r>
            <a:endParaRPr b="1" sz="18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stable detection in a cluttered scene</a:t>
            </a:r>
            <a:endParaRPr b="1" sz="18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g3bb80075d25_0_74" title="raspbot_original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9003" y="929860"/>
            <a:ext cx="4608484" cy="44634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" name="Google Shape;153;g3bb80075d25_0_74"/>
          <p:cNvCxnSpPr>
            <a:stCxn id="154" idx="1"/>
          </p:cNvCxnSpPr>
          <p:nvPr/>
        </p:nvCxnSpPr>
        <p:spPr>
          <a:xfrm flipH="1">
            <a:off x="6828426" y="963463"/>
            <a:ext cx="1759800" cy="66000"/>
          </a:xfrm>
          <a:prstGeom prst="straightConnector1">
            <a:avLst/>
          </a:prstGeom>
          <a:noFill/>
          <a:ln cap="flat" cmpd="sng" w="263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" name="Google Shape;154;g3bb80075d25_0_74"/>
          <p:cNvSpPr txBox="1"/>
          <p:nvPr/>
        </p:nvSpPr>
        <p:spPr>
          <a:xfrm>
            <a:off x="8588226" y="755563"/>
            <a:ext cx="2729700" cy="415800"/>
          </a:xfrm>
          <a:prstGeom prst="rect">
            <a:avLst/>
          </a:prstGeom>
          <a:solidFill>
            <a:schemeClr val="lt1"/>
          </a:solidFill>
          <a:ln cap="flat" cmpd="sng" w="2630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125" lIns="84125" spcFirstLastPara="1" rIns="84125" wrap="square" tIns="8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IMAX219 8 Megapixel Camera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8"/>
          </a:p>
        </p:txBody>
      </p:sp>
      <p:pic>
        <p:nvPicPr>
          <p:cNvPr id="155" name="Google Shape;155;g3bb80075d25_0_74" title="image_download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6619" y="1998674"/>
            <a:ext cx="538559" cy="487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bb80075d25_0_74" title="novotech_image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928748">
            <a:off x="4202069" y="3238420"/>
            <a:ext cx="847885" cy="6161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g3bb80075d25_0_74"/>
          <p:cNvCxnSpPr>
            <a:stCxn id="158" idx="1"/>
          </p:cNvCxnSpPr>
          <p:nvPr/>
        </p:nvCxnSpPr>
        <p:spPr>
          <a:xfrm flipH="1">
            <a:off x="7613275" y="1585125"/>
            <a:ext cx="1292400" cy="467100"/>
          </a:xfrm>
          <a:prstGeom prst="straightConnector1">
            <a:avLst/>
          </a:prstGeom>
          <a:noFill/>
          <a:ln cap="flat" cmpd="sng" w="263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g3bb80075d25_0_74"/>
          <p:cNvSpPr txBox="1"/>
          <p:nvPr/>
        </p:nvSpPr>
        <p:spPr>
          <a:xfrm>
            <a:off x="8905675" y="1341375"/>
            <a:ext cx="2353800" cy="487500"/>
          </a:xfrm>
          <a:prstGeom prst="rect">
            <a:avLst/>
          </a:prstGeom>
          <a:solidFill>
            <a:schemeClr val="lt1"/>
          </a:solidFill>
          <a:ln cap="flat" cmpd="sng" w="2630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125" lIns="84125" spcFirstLastPara="1" rIns="84125" wrap="square" tIns="8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YDLIDAR T-mini Pro Plus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8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8"/>
          </a:p>
        </p:txBody>
      </p:sp>
      <p:cxnSp>
        <p:nvCxnSpPr>
          <p:cNvPr id="159" name="Google Shape;159;g3bb80075d25_0_74"/>
          <p:cNvCxnSpPr>
            <a:stCxn id="160" idx="1"/>
          </p:cNvCxnSpPr>
          <p:nvPr/>
        </p:nvCxnSpPr>
        <p:spPr>
          <a:xfrm flipH="1">
            <a:off x="7613301" y="2206575"/>
            <a:ext cx="1900800" cy="357000"/>
          </a:xfrm>
          <a:prstGeom prst="straightConnector1">
            <a:avLst/>
          </a:prstGeom>
          <a:noFill/>
          <a:ln cap="flat" cmpd="sng" w="263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g3bb80075d25_0_74"/>
          <p:cNvSpPr txBox="1"/>
          <p:nvPr/>
        </p:nvSpPr>
        <p:spPr>
          <a:xfrm>
            <a:off x="9514101" y="1998675"/>
            <a:ext cx="2126700" cy="415800"/>
          </a:xfrm>
          <a:prstGeom prst="rect">
            <a:avLst/>
          </a:prstGeom>
          <a:solidFill>
            <a:schemeClr val="lt1"/>
          </a:solidFill>
          <a:ln cap="flat" cmpd="sng" w="2630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125" lIns="84125" spcFirstLastPara="1" rIns="84125" wrap="square" tIns="8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Temperature sensor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g3bb80075d25_0_74"/>
          <p:cNvCxnSpPr>
            <a:stCxn id="162" idx="1"/>
          </p:cNvCxnSpPr>
          <p:nvPr/>
        </p:nvCxnSpPr>
        <p:spPr>
          <a:xfrm rot="10800000">
            <a:off x="7555775" y="2764175"/>
            <a:ext cx="1536600" cy="154500"/>
          </a:xfrm>
          <a:prstGeom prst="straightConnector1">
            <a:avLst/>
          </a:prstGeom>
          <a:noFill/>
          <a:ln cap="flat" cmpd="sng" w="263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g3bb80075d25_0_74"/>
          <p:cNvSpPr txBox="1"/>
          <p:nvPr/>
        </p:nvSpPr>
        <p:spPr>
          <a:xfrm>
            <a:off x="9092375" y="2710775"/>
            <a:ext cx="2729700" cy="415800"/>
          </a:xfrm>
          <a:prstGeom prst="rect">
            <a:avLst/>
          </a:prstGeom>
          <a:solidFill>
            <a:schemeClr val="lt1"/>
          </a:solidFill>
          <a:ln cap="flat" cmpd="sng" w="2630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125" lIns="84125" spcFirstLastPara="1" rIns="84125" wrap="square" tIns="8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2 ultrasonic distance sensors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g3bb80075d25_0_74"/>
          <p:cNvCxnSpPr>
            <a:endCxn id="164" idx="3"/>
          </p:cNvCxnSpPr>
          <p:nvPr/>
        </p:nvCxnSpPr>
        <p:spPr>
          <a:xfrm rot="10800000">
            <a:off x="4188953" y="996575"/>
            <a:ext cx="2771100" cy="1334400"/>
          </a:xfrm>
          <a:prstGeom prst="straightConnector1">
            <a:avLst/>
          </a:prstGeom>
          <a:noFill/>
          <a:ln cap="flat" cmpd="sng" w="263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" name="Google Shape;164;g3bb80075d25_0_74"/>
          <p:cNvSpPr txBox="1"/>
          <p:nvPr/>
        </p:nvSpPr>
        <p:spPr>
          <a:xfrm>
            <a:off x="2039753" y="818075"/>
            <a:ext cx="2149200" cy="357000"/>
          </a:xfrm>
          <a:prstGeom prst="rect">
            <a:avLst/>
          </a:prstGeom>
          <a:solidFill>
            <a:schemeClr val="lt1"/>
          </a:solidFill>
          <a:ln cap="flat" cmpd="sng" w="2630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125" lIns="84125" spcFirstLastPara="1" rIns="84125" wrap="square" tIns="8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M5stick controller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bb80075d25_0_74"/>
          <p:cNvSpPr txBox="1"/>
          <p:nvPr/>
        </p:nvSpPr>
        <p:spPr>
          <a:xfrm>
            <a:off x="2639115" y="1406517"/>
            <a:ext cx="1646100" cy="357000"/>
          </a:xfrm>
          <a:prstGeom prst="rect">
            <a:avLst/>
          </a:prstGeom>
          <a:solidFill>
            <a:schemeClr val="lt1"/>
          </a:solidFill>
          <a:ln cap="flat" cmpd="sng" w="2630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125" lIns="84125" spcFirstLastPara="1" rIns="84125" wrap="square" tIns="8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IMU sensor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g3bb80075d25_0_74"/>
          <p:cNvCxnSpPr/>
          <p:nvPr/>
        </p:nvCxnSpPr>
        <p:spPr>
          <a:xfrm rot="10800000">
            <a:off x="4233935" y="1539561"/>
            <a:ext cx="2552400" cy="936000"/>
          </a:xfrm>
          <a:prstGeom prst="straightConnector1">
            <a:avLst/>
          </a:prstGeom>
          <a:noFill/>
          <a:ln cap="flat" cmpd="sng" w="263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g3bb80075d25_0_74"/>
          <p:cNvSpPr txBox="1"/>
          <p:nvPr/>
        </p:nvSpPr>
        <p:spPr>
          <a:xfrm>
            <a:off x="1552825" y="1882937"/>
            <a:ext cx="1536600" cy="388800"/>
          </a:xfrm>
          <a:prstGeom prst="rect">
            <a:avLst/>
          </a:prstGeom>
          <a:solidFill>
            <a:schemeClr val="lt1"/>
          </a:solidFill>
          <a:ln cap="flat" cmpd="sng" w="2630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125" lIns="84125" spcFirstLastPara="1" rIns="84125" wrap="square" tIns="8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HAILO8 26TOPS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8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8"/>
          </a:p>
        </p:txBody>
      </p:sp>
      <p:cxnSp>
        <p:nvCxnSpPr>
          <p:cNvPr id="168" name="Google Shape;168;g3bb80075d25_0_74"/>
          <p:cNvCxnSpPr>
            <a:endCxn id="167" idx="3"/>
          </p:cNvCxnSpPr>
          <p:nvPr/>
        </p:nvCxnSpPr>
        <p:spPr>
          <a:xfrm rot="10800000">
            <a:off x="3089425" y="2077337"/>
            <a:ext cx="2677800" cy="607800"/>
          </a:xfrm>
          <a:prstGeom prst="straightConnector1">
            <a:avLst/>
          </a:prstGeom>
          <a:noFill/>
          <a:ln cap="flat" cmpd="sng" w="263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g3bb80075d25_0_74"/>
          <p:cNvSpPr txBox="1"/>
          <p:nvPr/>
        </p:nvSpPr>
        <p:spPr>
          <a:xfrm>
            <a:off x="564925" y="2391150"/>
            <a:ext cx="2149200" cy="525000"/>
          </a:xfrm>
          <a:prstGeom prst="rect">
            <a:avLst/>
          </a:prstGeom>
          <a:solidFill>
            <a:schemeClr val="lt1"/>
          </a:solidFill>
          <a:ln cap="flat" cmpd="sng" w="2630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125" lIns="84125" spcFirstLastPara="1" rIns="84125" wrap="square" tIns="8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raspbeery pi5 8g ram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g3bb80075d25_0_74"/>
          <p:cNvCxnSpPr/>
          <p:nvPr/>
        </p:nvCxnSpPr>
        <p:spPr>
          <a:xfrm rot="10800000">
            <a:off x="2713982" y="2689318"/>
            <a:ext cx="2853900" cy="171000"/>
          </a:xfrm>
          <a:prstGeom prst="straightConnector1">
            <a:avLst/>
          </a:prstGeom>
          <a:noFill/>
          <a:ln cap="flat" cmpd="sng" w="263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g3bb80075d25_0_74"/>
          <p:cNvSpPr txBox="1"/>
          <p:nvPr/>
        </p:nvSpPr>
        <p:spPr>
          <a:xfrm>
            <a:off x="291950" y="2983550"/>
            <a:ext cx="2650800" cy="651600"/>
          </a:xfrm>
          <a:prstGeom prst="rect">
            <a:avLst/>
          </a:prstGeom>
          <a:solidFill>
            <a:schemeClr val="lt1"/>
          </a:solidFill>
          <a:ln cap="flat" cmpd="sng" w="2630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125" lIns="84125" spcFirstLastPara="1" rIns="84125" wrap="square" tIns="8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RaspbotV2 expansion board based on STC-8 processor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g3bb80075d25_0_74"/>
          <p:cNvCxnSpPr>
            <a:endCxn id="171" idx="3"/>
          </p:cNvCxnSpPr>
          <p:nvPr/>
        </p:nvCxnSpPr>
        <p:spPr>
          <a:xfrm flipH="1">
            <a:off x="2942750" y="3091550"/>
            <a:ext cx="2457900" cy="217800"/>
          </a:xfrm>
          <a:prstGeom prst="straightConnector1">
            <a:avLst/>
          </a:prstGeom>
          <a:noFill/>
          <a:ln cap="flat" cmpd="sng" w="263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g3bb80075d25_0_74"/>
          <p:cNvSpPr txBox="1"/>
          <p:nvPr/>
        </p:nvSpPr>
        <p:spPr>
          <a:xfrm>
            <a:off x="859975" y="3705248"/>
            <a:ext cx="2185500" cy="637500"/>
          </a:xfrm>
          <a:prstGeom prst="rect">
            <a:avLst/>
          </a:prstGeom>
          <a:solidFill>
            <a:schemeClr val="lt1"/>
          </a:solidFill>
          <a:ln cap="flat" cmpd="sng" w="2630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125" lIns="84125" spcFirstLastPara="1" rIns="84125" wrap="square" tIns="8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Netstick - M7200 4G LTE Wi-Fi Cellular Modem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8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8"/>
          </a:p>
        </p:txBody>
      </p:sp>
      <p:cxnSp>
        <p:nvCxnSpPr>
          <p:cNvPr id="174" name="Google Shape;174;g3bb80075d25_0_74"/>
          <p:cNvCxnSpPr>
            <a:endCxn id="173" idx="3"/>
          </p:cNvCxnSpPr>
          <p:nvPr/>
        </p:nvCxnSpPr>
        <p:spPr>
          <a:xfrm flipH="1">
            <a:off x="3045475" y="3635198"/>
            <a:ext cx="1337400" cy="388800"/>
          </a:xfrm>
          <a:prstGeom prst="straightConnector1">
            <a:avLst/>
          </a:prstGeom>
          <a:noFill/>
          <a:ln cap="flat" cmpd="sng" w="263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g3bb80075d25_0_74"/>
          <p:cNvSpPr txBox="1"/>
          <p:nvPr/>
        </p:nvSpPr>
        <p:spPr>
          <a:xfrm>
            <a:off x="9182825" y="3516600"/>
            <a:ext cx="2457900" cy="415800"/>
          </a:xfrm>
          <a:prstGeom prst="rect">
            <a:avLst/>
          </a:prstGeom>
          <a:solidFill>
            <a:schemeClr val="lt1"/>
          </a:solidFill>
          <a:ln cap="flat" cmpd="sng" w="2630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125" lIns="84125" spcFirstLastPara="1" rIns="84125" wrap="square" tIns="8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Machina Climbing Car Pro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g3bb80075d25_0_74"/>
          <p:cNvCxnSpPr>
            <a:stCxn id="175" idx="1"/>
          </p:cNvCxnSpPr>
          <p:nvPr/>
        </p:nvCxnSpPr>
        <p:spPr>
          <a:xfrm flipH="1">
            <a:off x="7855025" y="3724500"/>
            <a:ext cx="1327800" cy="407400"/>
          </a:xfrm>
          <a:prstGeom prst="straightConnector1">
            <a:avLst/>
          </a:prstGeom>
          <a:noFill/>
          <a:ln cap="flat" cmpd="sng" w="263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7" name="Google Shape;177;g3bb80075d25_0_74" title="logitech_controller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45613" y="4863813"/>
            <a:ext cx="1900800" cy="123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bb80075d25_0_74"/>
          <p:cNvSpPr txBox="1"/>
          <p:nvPr/>
        </p:nvSpPr>
        <p:spPr>
          <a:xfrm>
            <a:off x="1210812" y="5393262"/>
            <a:ext cx="2924400" cy="637500"/>
          </a:xfrm>
          <a:prstGeom prst="rect">
            <a:avLst/>
          </a:prstGeom>
          <a:solidFill>
            <a:schemeClr val="lt1"/>
          </a:solidFill>
          <a:ln cap="flat" cmpd="sng" w="2630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125" lIns="84125" spcFirstLastPara="1" rIns="84125" wrap="square" tIns="8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Logitech Wireless Gamepad F710 PC Wireless Controller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88"/>
          </a:p>
        </p:txBody>
      </p:sp>
      <p:cxnSp>
        <p:nvCxnSpPr>
          <p:cNvPr id="179" name="Google Shape;179;g3bb80075d25_0_74"/>
          <p:cNvCxnSpPr>
            <a:endCxn id="178" idx="3"/>
          </p:cNvCxnSpPr>
          <p:nvPr/>
        </p:nvCxnSpPr>
        <p:spPr>
          <a:xfrm flipH="1">
            <a:off x="4135212" y="5517612"/>
            <a:ext cx="1265400" cy="194400"/>
          </a:xfrm>
          <a:prstGeom prst="straightConnector1">
            <a:avLst/>
          </a:prstGeom>
          <a:noFill/>
          <a:ln cap="flat" cmpd="sng" w="263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g3bb80075d25_0_74"/>
          <p:cNvSpPr/>
          <p:nvPr/>
        </p:nvSpPr>
        <p:spPr>
          <a:xfrm>
            <a:off x="0" y="0"/>
            <a:ext cx="12191700" cy="56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bb80075d25_0_74"/>
          <p:cNvSpPr/>
          <p:nvPr/>
        </p:nvSpPr>
        <p:spPr>
          <a:xfrm>
            <a:off x="0" y="0"/>
            <a:ext cx="109800" cy="567000"/>
          </a:xfrm>
          <a:prstGeom prst="rect">
            <a:avLst/>
          </a:prstGeom>
          <a:solidFill>
            <a:srgbClr val="1B7F3A"/>
          </a:solidFill>
          <a:ln cap="flat" cmpd="sng" w="12700">
            <a:solidFill>
              <a:srgbClr val="1B7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bb80075d25_0_74"/>
          <p:cNvSpPr/>
          <p:nvPr/>
        </p:nvSpPr>
        <p:spPr>
          <a:xfrm>
            <a:off x="233968" y="133325"/>
            <a:ext cx="4086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RoNen - </a:t>
            </a:r>
            <a:r>
              <a:rPr lang="en-US" sz="22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Robot Platform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bb80075d25_0_74"/>
          <p:cNvSpPr/>
          <p:nvPr/>
        </p:nvSpPr>
        <p:spPr>
          <a:xfrm>
            <a:off x="9092370" y="4"/>
            <a:ext cx="3017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4×4 base + Raspbot V2 kit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bb80075d25_0_74"/>
          <p:cNvSpPr/>
          <p:nvPr/>
        </p:nvSpPr>
        <p:spPr>
          <a:xfrm>
            <a:off x="2781625" y="6268925"/>
            <a:ext cx="6732600" cy="525300"/>
          </a:xfrm>
          <a:prstGeom prst="roundRect">
            <a:avLst>
              <a:gd fmla="val 16667" name="adj"/>
            </a:avLst>
          </a:prstGeom>
          <a:solidFill>
            <a:srgbClr val="FFFFFF">
              <a:alpha val="94900"/>
            </a:srgbClr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bb80075d25_0_74"/>
          <p:cNvSpPr/>
          <p:nvPr/>
        </p:nvSpPr>
        <p:spPr>
          <a:xfrm>
            <a:off x="2942700" y="6337175"/>
            <a:ext cx="6401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Built for narrow corridors • camera on pan–tilt • onboard sensors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bb80075d25_0_7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b80075d25_0_245"/>
          <p:cNvSpPr/>
          <p:nvPr/>
        </p:nvSpPr>
        <p:spPr>
          <a:xfrm>
            <a:off x="82025" y="698900"/>
            <a:ext cx="5666400" cy="3926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1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33105" rotWithShape="0" algn="bl" dir="2700000" dist="16552">
              <a:srgbClr val="000000">
                <a:alpha val="27840"/>
              </a:srgbClr>
            </a:outerShdw>
          </a:effectLst>
        </p:spPr>
        <p:txBody>
          <a:bodyPr anchorCtr="0" anchor="ctr" bIns="79425" lIns="79425" spcFirstLastPara="1" rIns="79425" wrap="square" tIns="7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3"/>
          </a:p>
        </p:txBody>
      </p:sp>
      <p:pic>
        <p:nvPicPr>
          <p:cNvPr id="192" name="Google Shape;192;g3bb80075d25_0_245" title="raspbot_original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1295" y="1253378"/>
            <a:ext cx="3664980" cy="354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3bb80075d25_0_245" title="image_download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0572" y="2103371"/>
            <a:ext cx="428299" cy="387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bb80075d25_0_245" title="novotech_image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928742">
            <a:off x="6811371" y="3089301"/>
            <a:ext cx="674300" cy="4900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g3bb80075d25_0_245"/>
          <p:cNvCxnSpPr>
            <a:stCxn id="196" idx="1"/>
          </p:cNvCxnSpPr>
          <p:nvPr/>
        </p:nvCxnSpPr>
        <p:spPr>
          <a:xfrm flipH="1">
            <a:off x="9524400" y="2175700"/>
            <a:ext cx="424200" cy="427800"/>
          </a:xfrm>
          <a:prstGeom prst="straightConnector1">
            <a:avLst/>
          </a:prstGeom>
          <a:noFill/>
          <a:ln cap="flat" cmpd="sng" w="2092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g3bb80075d25_0_245"/>
          <p:cNvSpPr txBox="1"/>
          <p:nvPr/>
        </p:nvSpPr>
        <p:spPr>
          <a:xfrm>
            <a:off x="9948600" y="1959400"/>
            <a:ext cx="1897500" cy="432600"/>
          </a:xfrm>
          <a:prstGeom prst="rect">
            <a:avLst/>
          </a:prstGeom>
          <a:solidFill>
            <a:schemeClr val="lt1"/>
          </a:solidFill>
          <a:ln cap="flat" cmpd="sng" w="209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00" lIns="66900" spcFirstLastPara="1" rIns="66900" wrap="square" tIns="6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Temperature sensor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g3bb80075d25_0_245"/>
          <p:cNvCxnSpPr/>
          <p:nvPr/>
        </p:nvCxnSpPr>
        <p:spPr>
          <a:xfrm rot="10800000">
            <a:off x="9478657" y="2711990"/>
            <a:ext cx="707400" cy="63900"/>
          </a:xfrm>
          <a:prstGeom prst="straightConnector1">
            <a:avLst/>
          </a:prstGeom>
          <a:noFill/>
          <a:ln cap="flat" cmpd="sng" w="2092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g3bb80075d25_0_245"/>
          <p:cNvSpPr txBox="1"/>
          <p:nvPr/>
        </p:nvSpPr>
        <p:spPr>
          <a:xfrm>
            <a:off x="10158425" y="2656650"/>
            <a:ext cx="1610700" cy="585300"/>
          </a:xfrm>
          <a:prstGeom prst="rect">
            <a:avLst/>
          </a:prstGeom>
          <a:solidFill>
            <a:schemeClr val="lt1"/>
          </a:solidFill>
          <a:ln cap="flat" cmpd="sng" w="209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00" lIns="66900" spcFirstLastPara="1" rIns="66900" wrap="square" tIns="6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2 ultrasonic </a:t>
            </a:r>
            <a:br>
              <a:rPr lang="en-US" sz="16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distance sensors</a:t>
            </a:r>
            <a:endParaRPr sz="102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4"/>
          </a:p>
        </p:txBody>
      </p:sp>
      <p:cxnSp>
        <p:nvCxnSpPr>
          <p:cNvPr id="199" name="Google Shape;199;g3bb80075d25_0_245"/>
          <p:cNvCxnSpPr>
            <a:endCxn id="200" idx="1"/>
          </p:cNvCxnSpPr>
          <p:nvPr/>
        </p:nvCxnSpPr>
        <p:spPr>
          <a:xfrm flipH="1" rot="10800000">
            <a:off x="9077400" y="1447174"/>
            <a:ext cx="871200" cy="983400"/>
          </a:xfrm>
          <a:prstGeom prst="straightConnector1">
            <a:avLst/>
          </a:prstGeom>
          <a:noFill/>
          <a:ln cap="flat" cmpd="sng" w="2092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g3bb80075d25_0_245"/>
          <p:cNvSpPr txBox="1"/>
          <p:nvPr/>
        </p:nvSpPr>
        <p:spPr>
          <a:xfrm>
            <a:off x="9948600" y="1253374"/>
            <a:ext cx="1869000" cy="387600"/>
          </a:xfrm>
          <a:prstGeom prst="rect">
            <a:avLst/>
          </a:prstGeom>
          <a:solidFill>
            <a:schemeClr val="lt1"/>
          </a:solidFill>
          <a:ln cap="flat" cmpd="sng" w="209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00" lIns="66900" spcFirstLastPara="1" rIns="66900" wrap="square" tIns="6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M5stick controller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bb80075d25_0_245"/>
          <p:cNvSpPr txBox="1"/>
          <p:nvPr/>
        </p:nvSpPr>
        <p:spPr>
          <a:xfrm>
            <a:off x="8101000" y="884200"/>
            <a:ext cx="1309200" cy="330600"/>
          </a:xfrm>
          <a:prstGeom prst="rect">
            <a:avLst/>
          </a:prstGeom>
          <a:solidFill>
            <a:schemeClr val="lt1"/>
          </a:solidFill>
          <a:ln cap="flat" cmpd="sng" w="209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00" lIns="66900" spcFirstLastPara="1" rIns="66900" wrap="square" tIns="6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IMU sensor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g3bb80075d25_0_245"/>
          <p:cNvCxnSpPr/>
          <p:nvPr/>
        </p:nvCxnSpPr>
        <p:spPr>
          <a:xfrm rot="10800000">
            <a:off x="8747126" y="1144948"/>
            <a:ext cx="98100" cy="1298400"/>
          </a:xfrm>
          <a:prstGeom prst="straightConnector1">
            <a:avLst/>
          </a:prstGeom>
          <a:noFill/>
          <a:ln cap="flat" cmpd="sng" w="2092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g3bb80075d25_0_245"/>
          <p:cNvSpPr txBox="1"/>
          <p:nvPr/>
        </p:nvSpPr>
        <p:spPr>
          <a:xfrm>
            <a:off x="6933618" y="1291483"/>
            <a:ext cx="1309200" cy="330600"/>
          </a:xfrm>
          <a:prstGeom prst="rect">
            <a:avLst/>
          </a:prstGeom>
          <a:solidFill>
            <a:schemeClr val="lt1"/>
          </a:solidFill>
          <a:ln cap="flat" cmpd="sng" w="209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00" lIns="66900" spcFirstLastPara="1" rIns="66900" wrap="square" tIns="6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31"/>
              <a:buFont typeface="Play"/>
              <a:buNone/>
            </a:pPr>
            <a:r>
              <a:rPr lang="en-US" sz="163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Camera mast</a:t>
            </a:r>
            <a:endParaRPr sz="163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4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g3bb80075d25_0_245"/>
          <p:cNvCxnSpPr>
            <a:endCxn id="203" idx="3"/>
          </p:cNvCxnSpPr>
          <p:nvPr/>
        </p:nvCxnSpPr>
        <p:spPr>
          <a:xfrm rot="10800000">
            <a:off x="8242818" y="1456783"/>
            <a:ext cx="417600" cy="901800"/>
          </a:xfrm>
          <a:prstGeom prst="straightConnector1">
            <a:avLst/>
          </a:prstGeom>
          <a:noFill/>
          <a:ln cap="flat" cmpd="sng" w="2092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g3bb80075d25_0_245"/>
          <p:cNvSpPr txBox="1"/>
          <p:nvPr/>
        </p:nvSpPr>
        <p:spPr>
          <a:xfrm>
            <a:off x="6033051" y="2024200"/>
            <a:ext cx="1610700" cy="303000"/>
          </a:xfrm>
          <a:prstGeom prst="rect">
            <a:avLst/>
          </a:prstGeom>
          <a:solidFill>
            <a:schemeClr val="lt1"/>
          </a:solidFill>
          <a:ln cap="flat" cmpd="sng" w="209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00" lIns="66900" spcFirstLastPara="1" rIns="66900" wrap="square" tIns="6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31"/>
              <a:buFont typeface="Play"/>
              <a:buNone/>
            </a:pPr>
            <a:r>
              <a:rPr lang="en-US" sz="163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Chassis brackets</a:t>
            </a:r>
            <a:endParaRPr sz="163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g3bb80075d25_0_245"/>
          <p:cNvCxnSpPr>
            <a:endCxn id="205" idx="2"/>
          </p:cNvCxnSpPr>
          <p:nvPr/>
        </p:nvCxnSpPr>
        <p:spPr>
          <a:xfrm rot="10800000">
            <a:off x="6838401" y="2327200"/>
            <a:ext cx="1339500" cy="1004400"/>
          </a:xfrm>
          <a:prstGeom prst="straightConnector1">
            <a:avLst/>
          </a:prstGeom>
          <a:noFill/>
          <a:ln cap="flat" cmpd="sng" w="2092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g3bb80075d25_0_245"/>
          <p:cNvSpPr txBox="1"/>
          <p:nvPr/>
        </p:nvSpPr>
        <p:spPr>
          <a:xfrm>
            <a:off x="10235525" y="3736100"/>
            <a:ext cx="1582200" cy="330600"/>
          </a:xfrm>
          <a:prstGeom prst="rect">
            <a:avLst/>
          </a:prstGeom>
          <a:solidFill>
            <a:schemeClr val="lt1"/>
          </a:solidFill>
          <a:ln cap="flat" cmpd="sng" w="209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00" lIns="66900" spcFirstLastPara="1" rIns="66900" wrap="square" tIns="6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31"/>
              <a:buFont typeface="Play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enclosure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g3bb80075d25_0_245"/>
          <p:cNvCxnSpPr>
            <a:stCxn id="207" idx="1"/>
          </p:cNvCxnSpPr>
          <p:nvPr/>
        </p:nvCxnSpPr>
        <p:spPr>
          <a:xfrm rot="10800000">
            <a:off x="9116525" y="2859800"/>
            <a:ext cx="1119000" cy="1041600"/>
          </a:xfrm>
          <a:prstGeom prst="straightConnector1">
            <a:avLst/>
          </a:prstGeom>
          <a:noFill/>
          <a:ln cap="flat" cmpd="sng" w="2092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g3bb80075d25_0_245"/>
          <p:cNvSpPr/>
          <p:nvPr/>
        </p:nvSpPr>
        <p:spPr>
          <a:xfrm>
            <a:off x="0" y="0"/>
            <a:ext cx="12191700" cy="585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bb80075d25_0_245"/>
          <p:cNvSpPr/>
          <p:nvPr/>
        </p:nvSpPr>
        <p:spPr>
          <a:xfrm>
            <a:off x="0" y="0"/>
            <a:ext cx="109800" cy="5670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1B7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bb80075d25_0_245"/>
          <p:cNvSpPr/>
          <p:nvPr/>
        </p:nvSpPr>
        <p:spPr>
          <a:xfrm>
            <a:off x="326525" y="43500"/>
            <a:ext cx="84738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Play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Mechanical Engineering Collaboration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bb80075d25_0_245"/>
          <p:cNvSpPr/>
          <p:nvPr/>
        </p:nvSpPr>
        <p:spPr>
          <a:xfrm>
            <a:off x="326525" y="884200"/>
            <a:ext cx="4894200" cy="702300"/>
          </a:xfrm>
          <a:prstGeom prst="roundRect">
            <a:avLst>
              <a:gd fmla="val 16667" name="adj"/>
            </a:avLst>
          </a:prstGeom>
          <a:solidFill>
            <a:srgbClr val="E9F6EE"/>
          </a:solidFill>
          <a:ln cap="flat" cmpd="sng" w="12700">
            <a:solidFill>
              <a:srgbClr val="BFE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bb80075d25_0_245"/>
          <p:cNvSpPr/>
          <p:nvPr/>
        </p:nvSpPr>
        <p:spPr>
          <a:xfrm>
            <a:off x="6316966" y="151650"/>
            <a:ext cx="1803900" cy="344400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 cap="flat" cmpd="sng" w="11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975" lIns="81975" spcFirstLastPara="1" rIns="81975" wrap="square" tIns="81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bb80075d25_0_245"/>
          <p:cNvSpPr/>
          <p:nvPr/>
        </p:nvSpPr>
        <p:spPr>
          <a:xfrm>
            <a:off x="6669530" y="217244"/>
            <a:ext cx="143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975" lIns="81975" spcFirstLastPara="1" rIns="81975" wrap="square" tIns="40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6"/>
              <a:buFont typeface="Arial"/>
              <a:buNone/>
            </a:pPr>
            <a:r>
              <a:rPr b="0" i="0" lang="en-US" sz="10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3D-printed parts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bb80075d25_0_245"/>
          <p:cNvSpPr/>
          <p:nvPr/>
        </p:nvSpPr>
        <p:spPr>
          <a:xfrm>
            <a:off x="8202772" y="151650"/>
            <a:ext cx="1803900" cy="3444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1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975" lIns="81975" spcFirstLastPara="1" rIns="81975" wrap="square" tIns="81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5"/>
          </a:p>
        </p:txBody>
      </p:sp>
      <p:sp>
        <p:nvSpPr>
          <p:cNvPr id="216" name="Google Shape;216;g3bb80075d25_0_245"/>
          <p:cNvSpPr/>
          <p:nvPr/>
        </p:nvSpPr>
        <p:spPr>
          <a:xfrm>
            <a:off x="8555335" y="217244"/>
            <a:ext cx="143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975" lIns="81975" spcFirstLastPara="1" rIns="81975" wrap="square" tIns="40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6"/>
              <a:buFont typeface="Arial"/>
              <a:buNone/>
            </a:pPr>
            <a:r>
              <a:rPr b="0" i="0" lang="en-US" sz="10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IoT sensing add-on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g3bb80075d25_0_2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15354" y="212614"/>
            <a:ext cx="213183" cy="247096"/>
          </a:xfrm>
          <a:prstGeom prst="rect">
            <a:avLst/>
          </a:prstGeom>
          <a:solidFill>
            <a:srgbClr val="111827"/>
          </a:solidFill>
          <a:ln cap="flat" cmpd="sng" w="114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  <a:effectLst>
            <a:outerShdw blurRad="34163" rotWithShape="0" algn="bl" dir="2700000" dist="17082">
              <a:srgbClr val="000000">
                <a:alpha val="27840"/>
              </a:srgbClr>
            </a:outerShdw>
          </a:effectLst>
        </p:spPr>
      </p:pic>
      <p:pic>
        <p:nvPicPr>
          <p:cNvPr id="218" name="Google Shape;218;g3bb80075d25_0_2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98485" y="198201"/>
            <a:ext cx="218537" cy="21853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bb80075d25_0_245"/>
          <p:cNvSpPr/>
          <p:nvPr/>
        </p:nvSpPr>
        <p:spPr>
          <a:xfrm>
            <a:off x="216550" y="2365750"/>
            <a:ext cx="5048700" cy="26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725" lIns="79425" spcFirstLastPara="1" rIns="79425" wrap="square" tIns="39725">
            <a:noAutofit/>
          </a:bodyPr>
          <a:lstStyle/>
          <a:p>
            <a:pPr indent="-224028" lvl="0" marL="19862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16"/>
              <a:buFont typeface="Calibri"/>
              <a:buChar char="•"/>
            </a:pPr>
            <a:r>
              <a:rPr i="0" lang="en-US" sz="161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Designed and 3D-printed the pink mechanical parts </a:t>
            </a:r>
            <a:br>
              <a:rPr i="0" lang="en-US" sz="161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US" sz="161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(mounts, brackets, enclosure)</a:t>
            </a:r>
            <a:endParaRPr i="0" sz="16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4028" lvl="0" marL="198628" marR="0" rtl="0" algn="l">
              <a:spcBef>
                <a:spcPts val="521"/>
              </a:spcBef>
              <a:spcAft>
                <a:spcPts val="0"/>
              </a:spcAft>
              <a:buClr>
                <a:schemeClr val="dk1"/>
              </a:buClr>
              <a:buSzPts val="1616"/>
              <a:buFont typeface="Calibri"/>
              <a:buChar char="•"/>
            </a:pPr>
            <a:r>
              <a:rPr i="0" lang="en-US" sz="161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Integrated an M5Stick sensor module as an IoT add-on </a:t>
            </a:r>
            <a:br>
              <a:rPr i="0" lang="en-US" sz="161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US" sz="161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(environment + motion + distance)</a:t>
            </a:r>
            <a:endParaRPr i="0" sz="16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4028" lvl="0" marL="198628" marR="0" rtl="0" algn="l">
              <a:spcBef>
                <a:spcPts val="521"/>
              </a:spcBef>
              <a:spcAft>
                <a:spcPts val="0"/>
              </a:spcAft>
              <a:buClr>
                <a:schemeClr val="dk1"/>
              </a:buClr>
              <a:buSzPts val="1616"/>
              <a:buFont typeface="Calibri"/>
              <a:buChar char="•"/>
            </a:pPr>
            <a:r>
              <a:rPr i="0" lang="en-US" sz="161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Improved stability, protection, </a:t>
            </a:r>
            <a:br>
              <a:rPr i="0" lang="en-US" sz="161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US" sz="161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cable management for field operation</a:t>
            </a:r>
            <a:endParaRPr i="0" sz="16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4028" lvl="0" marL="198628" marR="0" rtl="0" algn="l">
              <a:spcBef>
                <a:spcPts val="521"/>
              </a:spcBef>
              <a:spcAft>
                <a:spcPts val="0"/>
              </a:spcAft>
              <a:buClr>
                <a:schemeClr val="dk1"/>
              </a:buClr>
              <a:buSzPts val="1616"/>
              <a:buFont typeface="Calibri"/>
              <a:buChar char="•"/>
            </a:pPr>
            <a:r>
              <a:rPr i="0" lang="en-US" sz="161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Enabled remote viewing of sensor telemetry through a </a:t>
            </a:r>
            <a:br>
              <a:rPr i="0" lang="en-US" sz="161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US" sz="161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Assistant dashboard (MQTT)</a:t>
            </a:r>
            <a:endParaRPr i="0" sz="16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bb80075d25_0_245"/>
          <p:cNvSpPr/>
          <p:nvPr/>
        </p:nvSpPr>
        <p:spPr>
          <a:xfrm>
            <a:off x="253925" y="1560800"/>
            <a:ext cx="5494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725" lIns="79425" spcFirstLastPara="1" rIns="79425" wrap="square" tIns="39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43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Led by Uzi Rosen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43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members: Shahar Avivi • Ella Smailov • Daniel Kislankov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g3bb80075d25_0_2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6224" y="4695125"/>
            <a:ext cx="4984801" cy="210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3bb80075d25_0_245"/>
          <p:cNvSpPr txBox="1"/>
          <p:nvPr>
            <p:ph idx="12" type="sldNum"/>
          </p:nvPr>
        </p:nvSpPr>
        <p:spPr>
          <a:xfrm>
            <a:off x="11522320" y="6440689"/>
            <a:ext cx="582000" cy="417300"/>
          </a:xfrm>
          <a:prstGeom prst="rect">
            <a:avLst/>
          </a:prstGeom>
        </p:spPr>
        <p:txBody>
          <a:bodyPr anchorCtr="0" anchor="t" bIns="72700" lIns="72700" spcFirstLastPara="1" rIns="72700" wrap="square" tIns="72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33"/>
              <a:t>‹#›</a:t>
            </a:fld>
            <a:endParaRPr sz="1033"/>
          </a:p>
        </p:txBody>
      </p:sp>
      <p:sp>
        <p:nvSpPr>
          <p:cNvPr id="223" name="Google Shape;223;g3bb80075d25_0_245"/>
          <p:cNvSpPr/>
          <p:nvPr/>
        </p:nvSpPr>
        <p:spPr>
          <a:xfrm>
            <a:off x="335575" y="884200"/>
            <a:ext cx="39609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975" lIns="81975" spcFirstLastPara="1" rIns="81975" wrap="square" tIns="40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5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contributions integrated </a:t>
            </a:r>
            <a:b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into the greenhouse robot prototype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g3bb80075d25_0_24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088575" y="155438"/>
            <a:ext cx="1987375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bb80075d25_0_245"/>
          <p:cNvSpPr txBox="1"/>
          <p:nvPr/>
        </p:nvSpPr>
        <p:spPr>
          <a:xfrm>
            <a:off x="10363125" y="147563"/>
            <a:ext cx="174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Dashboard monitoring</a:t>
            </a:r>
            <a:endParaRPr sz="1200">
              <a:solidFill>
                <a:srgbClr val="FFFFFF"/>
              </a:solidFill>
            </a:endParaRPr>
          </a:p>
        </p:txBody>
      </p:sp>
      <p:pic>
        <p:nvPicPr>
          <p:cNvPr id="226" name="Google Shape;226;g3bb80075d25_0_24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165068" y="226531"/>
            <a:ext cx="249255" cy="21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3bb80075d25_0_24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92475" y="4629215"/>
            <a:ext cx="4894201" cy="2172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"/>
          <p:cNvSpPr/>
          <p:nvPr/>
        </p:nvSpPr>
        <p:spPr>
          <a:xfrm>
            <a:off x="4557850" y="5321700"/>
            <a:ext cx="6717300" cy="68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BFE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54450" y="676500"/>
            <a:ext cx="4119600" cy="440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1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33105" rotWithShape="0" algn="bl" dir="2700000" dist="16552">
              <a:srgbClr val="000000">
                <a:alpha val="27840"/>
              </a:srgbClr>
            </a:outerShdw>
          </a:effectLst>
        </p:spPr>
        <p:txBody>
          <a:bodyPr anchorCtr="0" anchor="ctr" bIns="79425" lIns="79425" spcFirstLastPara="1" rIns="79425" wrap="square" tIns="7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3"/>
          </a:p>
        </p:txBody>
      </p:sp>
      <p:sp>
        <p:nvSpPr>
          <p:cNvPr id="235" name="Google Shape;235;p5"/>
          <p:cNvSpPr/>
          <p:nvPr/>
        </p:nvSpPr>
        <p:spPr>
          <a:xfrm>
            <a:off x="884300" y="3804675"/>
            <a:ext cx="2567700" cy="913800"/>
          </a:xfrm>
          <a:prstGeom prst="roundRect">
            <a:avLst>
              <a:gd fmla="val 16667" name="adj"/>
            </a:avLst>
          </a:prstGeom>
          <a:solidFill>
            <a:srgbClr val="E9F6EE"/>
          </a:solidFill>
          <a:ln cap="flat" cmpd="sng" w="12700">
            <a:solidFill>
              <a:srgbClr val="BFE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848000" y="2805500"/>
            <a:ext cx="2645100" cy="913800"/>
          </a:xfrm>
          <a:prstGeom prst="roundRect">
            <a:avLst>
              <a:gd fmla="val 16667" name="adj"/>
            </a:avLst>
          </a:prstGeom>
          <a:solidFill>
            <a:srgbClr val="E9F6EE"/>
          </a:solidFill>
          <a:ln cap="flat" cmpd="sng" w="12700">
            <a:solidFill>
              <a:srgbClr val="BFE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848000" y="1806325"/>
            <a:ext cx="2645100" cy="913800"/>
          </a:xfrm>
          <a:prstGeom prst="roundRect">
            <a:avLst>
              <a:gd fmla="val 16667" name="adj"/>
            </a:avLst>
          </a:prstGeom>
          <a:solidFill>
            <a:srgbClr val="E9F6EE"/>
          </a:solidFill>
          <a:ln cap="flat" cmpd="sng" w="12700">
            <a:solidFill>
              <a:srgbClr val="BFE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848000" y="807150"/>
            <a:ext cx="2645100" cy="913800"/>
          </a:xfrm>
          <a:prstGeom prst="roundRect">
            <a:avLst>
              <a:gd fmla="val 16667" name="adj"/>
            </a:avLst>
          </a:prstGeom>
          <a:solidFill>
            <a:srgbClr val="E9F6EE"/>
          </a:solidFill>
          <a:ln cap="flat" cmpd="sng" w="12700">
            <a:solidFill>
              <a:srgbClr val="BFE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150" y="0"/>
            <a:ext cx="12191700" cy="56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 txBox="1"/>
          <p:nvPr/>
        </p:nvSpPr>
        <p:spPr>
          <a:xfrm>
            <a:off x="245100" y="21900"/>
            <a:ext cx="256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Detection Classes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150" y="0"/>
            <a:ext cx="109800" cy="567000"/>
          </a:xfrm>
          <a:prstGeom prst="rect">
            <a:avLst/>
          </a:prstGeom>
          <a:solidFill>
            <a:srgbClr val="1B7F3A"/>
          </a:solidFill>
          <a:ln cap="flat" cmpd="sng" w="12700">
            <a:solidFill>
              <a:srgbClr val="1B7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3" name="Google Shape;243;p5"/>
          <p:cNvSpPr txBox="1"/>
          <p:nvPr/>
        </p:nvSpPr>
        <p:spPr>
          <a:xfrm>
            <a:off x="947875" y="932400"/>
            <a:ext cx="1923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Healthy Lettuce</a:t>
            </a:r>
            <a:endParaRPr b="1" sz="20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Normal growth</a:t>
            </a:r>
            <a:endParaRPr>
              <a:solidFill>
                <a:srgbClr val="5B64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 txBox="1"/>
          <p:nvPr/>
        </p:nvSpPr>
        <p:spPr>
          <a:xfrm>
            <a:off x="947875" y="1886125"/>
            <a:ext cx="1923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Leaf Disease</a:t>
            </a:r>
            <a:endParaRPr b="1" sz="20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Symptoms on leaves</a:t>
            </a:r>
            <a:endParaRPr>
              <a:solidFill>
                <a:srgbClr val="5B64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 txBox="1"/>
          <p:nvPr/>
        </p:nvSpPr>
        <p:spPr>
          <a:xfrm>
            <a:off x="947875" y="2941875"/>
            <a:ext cx="25677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Weed</a:t>
            </a:r>
            <a:endParaRPr b="1" sz="20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Plants that compete with lettuce</a:t>
            </a:r>
            <a:endParaRPr>
              <a:solidFill>
                <a:srgbClr val="5B64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 txBox="1"/>
          <p:nvPr/>
        </p:nvSpPr>
        <p:spPr>
          <a:xfrm>
            <a:off x="947875" y="3884475"/>
            <a:ext cx="2032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Soil Rot</a:t>
            </a:r>
            <a:endParaRPr b="1" sz="20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Rot near the base / soil</a:t>
            </a:r>
            <a:endParaRPr>
              <a:solidFill>
                <a:srgbClr val="5B64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 txBox="1"/>
          <p:nvPr/>
        </p:nvSpPr>
        <p:spPr>
          <a:xfrm>
            <a:off x="4514650" y="5412375"/>
            <a:ext cx="680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One model. Multiple targets. Simple output: box + class + confidence.</a:t>
            </a:r>
            <a:endParaRPr b="1" sz="18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8309" y="676438"/>
            <a:ext cx="6803700" cy="4535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bdf25fee85_0_56"/>
          <p:cNvSpPr/>
          <p:nvPr/>
        </p:nvSpPr>
        <p:spPr>
          <a:xfrm>
            <a:off x="0" y="0"/>
            <a:ext cx="121917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bdf25fee85_0_56"/>
          <p:cNvSpPr/>
          <p:nvPr/>
        </p:nvSpPr>
        <p:spPr>
          <a:xfrm>
            <a:off x="0" y="0"/>
            <a:ext cx="109800" cy="457200"/>
          </a:xfrm>
          <a:prstGeom prst="rect">
            <a:avLst/>
          </a:prstGeom>
          <a:solidFill>
            <a:srgbClr val="1B7F3A"/>
          </a:solidFill>
          <a:ln cap="flat" cmpd="sng" w="12700">
            <a:solidFill>
              <a:srgbClr val="1B7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bdf25fee85_0_56"/>
          <p:cNvSpPr/>
          <p:nvPr/>
        </p:nvSpPr>
        <p:spPr>
          <a:xfrm>
            <a:off x="228600" y="109800"/>
            <a:ext cx="5951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DataSets for </a:t>
            </a:r>
            <a:r>
              <a:rPr b="1" lang="en-US" sz="2200">
                <a:solidFill>
                  <a:srgbClr val="0A0A0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Transfer Learning Yolov8s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bdf25fee85_0_5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58" name="Google Shape;258;g3bdf25fee85_0_56"/>
          <p:cNvGraphicFramePr/>
          <p:nvPr/>
        </p:nvGraphicFramePr>
        <p:xfrm>
          <a:off x="177988" y="114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{BE1C39A8-71B7-4856-A489-9C9E2DEE065B}</a:tableStyleId>
              </a:tblPr>
              <a:tblGrid>
                <a:gridCol w="1336425"/>
                <a:gridCol w="5777775"/>
                <a:gridCol w="1198650"/>
                <a:gridCol w="3523150"/>
              </a:tblGrid>
              <a:tr h="869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 of Information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Images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Contribution to the Project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86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Leaf Disease Dataset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Leaf damage, rot, wilting, </a:t>
                      </a:r>
                      <a:b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discoloration (multiple disease types merged into one class: </a:t>
                      </a:r>
                      <a:r>
                        <a:rPr b="1"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“</a:t>
                      </a:r>
                      <a:r>
                        <a:rPr b="1"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Leaf Disease”</a:t>
                      </a: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~650 images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Enables early detection of leaf diseases and rot, supports preventive actions, and reduces yield loss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6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Weeds vs. Lettuce Dataset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Weeds growing between lettuce plants (inter-row and near-plant weeds)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</a:t>
                      </a:r>
                      <a:r>
                        <a:rPr b="1"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1060 images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Improves discrimination between crops and weeds in cluttered scenes, enabling accurate weed detection in narrow corridors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59" name="Google Shape;259;g3bdf25fee85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5325" y="4127438"/>
            <a:ext cx="3667125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3bdf25fee85_0_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9150" y="4132200"/>
            <a:ext cx="3695700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g3bb80075d25_0_4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00" y="645625"/>
            <a:ext cx="6973574" cy="188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g3bb80075d25_0_4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021" y="806481"/>
            <a:ext cx="4206955" cy="684674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bb80075d25_0_410"/>
          <p:cNvSpPr/>
          <p:nvPr/>
        </p:nvSpPr>
        <p:spPr>
          <a:xfrm>
            <a:off x="0" y="0"/>
            <a:ext cx="12191700" cy="567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bb80075d25_0_410"/>
          <p:cNvSpPr/>
          <p:nvPr/>
        </p:nvSpPr>
        <p:spPr>
          <a:xfrm>
            <a:off x="0" y="0"/>
            <a:ext cx="109800" cy="567000"/>
          </a:xfrm>
          <a:prstGeom prst="rect">
            <a:avLst/>
          </a:prstGeom>
          <a:solidFill>
            <a:srgbClr val="1B7F3A"/>
          </a:solidFill>
          <a:ln cap="flat" cmpd="sng" w="12700">
            <a:solidFill>
              <a:srgbClr val="1B7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bb80075d25_0_410"/>
          <p:cNvSpPr/>
          <p:nvPr/>
        </p:nvSpPr>
        <p:spPr>
          <a:xfrm>
            <a:off x="228600" y="109725"/>
            <a:ext cx="8033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Software Progress (What I already built)</a:t>
            </a:r>
            <a:endParaRPr b="1" sz="22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bb80075d25_0_410"/>
          <p:cNvSpPr/>
          <p:nvPr/>
        </p:nvSpPr>
        <p:spPr>
          <a:xfrm>
            <a:off x="8961120" y="146304"/>
            <a:ext cx="3017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C++ • direct UART/I2C • Hailo acceleration</a:t>
            </a:r>
            <a:endParaRPr sz="1200">
              <a:solidFill>
                <a:srgbClr val="5B64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bb80075d25_0_41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3" name="Google Shape;273;g3bb80075d25_0_410"/>
          <p:cNvPicPr preferRelativeResize="0"/>
          <p:nvPr/>
        </p:nvPicPr>
        <p:blipFill rotWithShape="1">
          <a:blip r:embed="rId5">
            <a:alphaModFix/>
          </a:blip>
          <a:srcRect b="39029" l="12610" r="0" t="7984"/>
          <a:stretch/>
        </p:blipFill>
        <p:spPr>
          <a:xfrm>
            <a:off x="7527587" y="3486925"/>
            <a:ext cx="4143025" cy="131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g3bb80075d25_0_4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08162" y="4855363"/>
            <a:ext cx="3981875" cy="181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g3bb80075d25_0_410"/>
          <p:cNvPicPr preferRelativeResize="0"/>
          <p:nvPr/>
        </p:nvPicPr>
        <p:blipFill rotWithShape="1">
          <a:blip r:embed="rId7">
            <a:alphaModFix/>
          </a:blip>
          <a:srcRect b="19846" l="0" r="0" t="0"/>
          <a:stretch/>
        </p:blipFill>
        <p:spPr>
          <a:xfrm>
            <a:off x="7608149" y="954975"/>
            <a:ext cx="3911339" cy="121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3bb80075d25_0_410"/>
          <p:cNvPicPr preferRelativeResize="0"/>
          <p:nvPr/>
        </p:nvPicPr>
        <p:blipFill rotWithShape="1">
          <a:blip r:embed="rId8">
            <a:alphaModFix/>
          </a:blip>
          <a:srcRect b="26605" l="0" r="0" t="0"/>
          <a:stretch/>
        </p:blipFill>
        <p:spPr>
          <a:xfrm>
            <a:off x="7669335" y="2220962"/>
            <a:ext cx="3859541" cy="121111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3bb80075d25_0_410"/>
          <p:cNvSpPr txBox="1"/>
          <p:nvPr/>
        </p:nvSpPr>
        <p:spPr>
          <a:xfrm>
            <a:off x="930649" y="865584"/>
            <a:ext cx="42069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00" lIns="86700" spcFirstLastPara="1" rIns="86700" wrap="square" tIns="86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6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1) Mini LiDAR → Dynamic Map (SDL + C++)</a:t>
            </a:r>
            <a:endParaRPr b="1" sz="1706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bb80075d25_0_410"/>
          <p:cNvSpPr txBox="1"/>
          <p:nvPr/>
        </p:nvSpPr>
        <p:spPr>
          <a:xfrm>
            <a:off x="405005" y="1491155"/>
            <a:ext cx="66903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00" lIns="86700" spcFirstLastPara="1" rIns="86700" wrap="square" tIns="86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517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Built a live 2D map using SDL; LiDAR position is at the origin (0,0).</a:t>
            </a:r>
            <a:endParaRPr sz="1517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517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Direct UART protocol (0xA5 + command) — no ready-made LiDAR libraries.</a:t>
            </a:r>
            <a:endParaRPr sz="1517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517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Color coding by distance: blue = far, yellow = near, red = imminent collision.</a:t>
            </a:r>
            <a:endParaRPr sz="1517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g3bb80075d25_0_4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625150"/>
            <a:ext cx="6973574" cy="188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3bb80075d25_0_410"/>
          <p:cNvSpPr txBox="1"/>
          <p:nvPr/>
        </p:nvSpPr>
        <p:spPr>
          <a:xfrm>
            <a:off x="364700" y="3470675"/>
            <a:ext cx="64737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00" lIns="86700" spcFirstLastPara="1" rIns="86700" wrap="square" tIns="86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4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Implemented direct register I2C control (vendor guide) — no high-level wrappers.</a:t>
            </a:r>
            <a:endParaRPr sz="14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4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Wheel driving tested up to 20 km/h.</a:t>
            </a:r>
            <a:endParaRPr sz="14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4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SERVO motion implemented for aiming/target alignment.</a:t>
            </a:r>
            <a:endParaRPr sz="14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1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g3bb80075d25_0_4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604675"/>
            <a:ext cx="7077001" cy="188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3bb80075d25_0_410"/>
          <p:cNvSpPr txBox="1"/>
          <p:nvPr/>
        </p:nvSpPr>
        <p:spPr>
          <a:xfrm>
            <a:off x="364700" y="5450225"/>
            <a:ext cx="70770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00" lIns="86700" spcFirstLastPara="1" rIns="86700" wrap="square" tIns="86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4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Real-time Person detection using YOLOv8s on Hailo-8.</a:t>
            </a:r>
            <a:endParaRPr sz="14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4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Saved runtime LOG files during inference using Hailo libraries (HailoRT / TAPPAS logging).</a:t>
            </a:r>
            <a:endParaRPr sz="14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1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bb80075d25_0_410"/>
          <p:cNvSpPr/>
          <p:nvPr/>
        </p:nvSpPr>
        <p:spPr>
          <a:xfrm>
            <a:off x="930650" y="2736650"/>
            <a:ext cx="4206900" cy="567000"/>
          </a:xfrm>
          <a:prstGeom prst="roundRect">
            <a:avLst>
              <a:gd fmla="val 16667" name="adj"/>
            </a:avLst>
          </a:prstGeom>
          <a:solidFill>
            <a:srgbClr val="E9F6EE"/>
          </a:solidFill>
          <a:ln cap="flat" cmpd="sng" w="12700">
            <a:solidFill>
              <a:srgbClr val="BFE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bb80075d25_0_410"/>
          <p:cNvSpPr txBox="1"/>
          <p:nvPr/>
        </p:nvSpPr>
        <p:spPr>
          <a:xfrm>
            <a:off x="930662" y="2829521"/>
            <a:ext cx="42069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00" lIns="86700" spcFirstLastPara="1" rIns="86700" wrap="square" tIns="86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2) RaspbotV2 Board → Direct Registers (C++)</a:t>
            </a:r>
            <a:endParaRPr b="1" sz="1706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bb80075d25_0_410"/>
          <p:cNvSpPr/>
          <p:nvPr/>
        </p:nvSpPr>
        <p:spPr>
          <a:xfrm>
            <a:off x="930650" y="4784150"/>
            <a:ext cx="4206900" cy="567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2700">
            <a:solidFill>
              <a:srgbClr val="BFE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bb80075d25_0_410"/>
          <p:cNvSpPr txBox="1"/>
          <p:nvPr/>
        </p:nvSpPr>
        <p:spPr>
          <a:xfrm>
            <a:off x="890349" y="4824646"/>
            <a:ext cx="42069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00" lIns="86700" spcFirstLastPara="1" rIns="86700" wrap="square" tIns="86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3) YOLOv8s Person Detection + Hailo LOGs</a:t>
            </a:r>
            <a:endParaRPr b="1" sz="1706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g3bb80075d25_0_4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9800" y="607575"/>
            <a:ext cx="3017400" cy="253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3bb80075d25_0_410"/>
          <p:cNvSpPr txBox="1"/>
          <p:nvPr/>
        </p:nvSpPr>
        <p:spPr>
          <a:xfrm>
            <a:off x="10468775" y="546325"/>
            <a:ext cx="73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Collision</a:t>
            </a:r>
            <a:endParaRPr sz="1200"/>
          </a:p>
        </p:txBody>
      </p:sp>
      <p:pic>
        <p:nvPicPr>
          <p:cNvPr id="289" name="Google Shape;289;g3bb80075d25_0_41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327112" y="644763"/>
            <a:ext cx="216588" cy="216588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3bb80075d25_0_410"/>
          <p:cNvSpPr txBox="1"/>
          <p:nvPr/>
        </p:nvSpPr>
        <p:spPr>
          <a:xfrm>
            <a:off x="9668150" y="526025"/>
            <a:ext cx="73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Near</a:t>
            </a:r>
            <a:endParaRPr sz="12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g3bb80075d25_0_41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520274" y="626163"/>
            <a:ext cx="216588" cy="216588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g3bb80075d25_0_410"/>
          <p:cNvSpPr txBox="1"/>
          <p:nvPr/>
        </p:nvSpPr>
        <p:spPr>
          <a:xfrm>
            <a:off x="8827700" y="526038"/>
            <a:ext cx="45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g3bb80075d25_0_41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656349" y="622675"/>
            <a:ext cx="216588" cy="216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1B7F3A"/>
          </a:solidFill>
          <a:ln cap="flat" cmpd="sng" w="12700">
            <a:solidFill>
              <a:srgbClr val="1B7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228600" y="109725"/>
            <a:ext cx="528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Next Step: ROS 2 Humble Microservices</a:t>
            </a:r>
            <a:endParaRPr b="1" sz="22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8961120" y="146304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From C++ modules → ROS 2 nodes (agents)</a:t>
            </a:r>
            <a:endParaRPr sz="1200">
              <a:solidFill>
                <a:srgbClr val="5B64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228600" y="580300"/>
            <a:ext cx="5280600" cy="4565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5"/>
          <p:cNvSpPr/>
          <p:nvPr/>
        </p:nvSpPr>
        <p:spPr>
          <a:xfrm>
            <a:off x="352925" y="3792525"/>
            <a:ext cx="5061000" cy="12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Already implemented in C++ (Phase A):</a:t>
            </a:r>
            <a:endParaRPr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LiDAR mapping (SDL) + raw UART protocol parsing</a:t>
            </a:r>
            <a:endParaRPr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Direct board control (I2C registers): driving + servo aiming</a:t>
            </a:r>
            <a:endParaRPr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YOLOv8s Person detection on Hailo + runtime logs</a:t>
            </a:r>
            <a:endParaRPr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731450" y="786350"/>
            <a:ext cx="3468300" cy="4710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12700">
            <a:solidFill>
              <a:srgbClr val="BFE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855877" y="601163"/>
            <a:ext cx="3112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Current software modules (C++)</a:t>
            </a:r>
            <a:endParaRPr b="1" sz="18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8" name="Google Shape;30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75" y="1420788"/>
            <a:ext cx="3219450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5"/>
          <p:cNvSpPr/>
          <p:nvPr/>
        </p:nvSpPr>
        <p:spPr>
          <a:xfrm>
            <a:off x="5983425" y="580300"/>
            <a:ext cx="5784900" cy="4565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6023550" y="1530775"/>
            <a:ext cx="5784900" cy="3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Each capability becomes an independent ROS 2 node (agent):</a:t>
            </a:r>
            <a:endParaRPr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mission_manager_node (state machine / actions)</a:t>
            </a:r>
            <a:endParaRPr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nav_localization_node (LiDAR/SLAM, corridor centering)</a:t>
            </a:r>
            <a:endParaRPr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perception_node (YOLOv8s + Hailo-8 inference)</a:t>
            </a:r>
            <a:endParaRPr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map_builder_node (map.json export + SDL debug view)</a:t>
            </a:r>
            <a:endParaRPr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hw_interface_node (RaspbotV2 registers: motors/servo/sensors)</a:t>
            </a:r>
            <a:endParaRPr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mqtt_bridge_node (robot ↔ web: publish/subscribe)</a:t>
            </a:r>
            <a:endParaRPr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Interfaces:</a:t>
            </a:r>
            <a:endParaRPr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Topics: scans, pose, detections, status</a:t>
            </a:r>
            <a:endParaRPr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Services/Actions: start_mission, stop_mission, set_params</a:t>
            </a:r>
            <a:endParaRPr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6617975" y="786350"/>
            <a:ext cx="3895200" cy="471000"/>
          </a:xfrm>
          <a:prstGeom prst="roundRect">
            <a:avLst>
              <a:gd fmla="val 16667" name="adj"/>
            </a:avLst>
          </a:prstGeom>
          <a:solidFill>
            <a:srgbClr val="BFE6CA"/>
          </a:solidFill>
          <a:ln cap="flat" cmpd="sng" w="12700">
            <a:solidFill>
              <a:srgbClr val="BFE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6617975" y="704363"/>
            <a:ext cx="36039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Planned ROS 2 Humble microservices</a:t>
            </a:r>
            <a:endParaRPr b="1" sz="17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2080250" y="5295875"/>
            <a:ext cx="7886700" cy="7314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 txBox="1"/>
          <p:nvPr/>
        </p:nvSpPr>
        <p:spPr>
          <a:xfrm>
            <a:off x="2561876" y="5304425"/>
            <a:ext cx="76599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Why ROS 2 Humble: </a:t>
            </a:r>
            <a:r>
              <a:rPr lang="en-US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modular testing, independent deployment, </a:t>
            </a:r>
            <a:br>
              <a:rPr lang="en-US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and clean interfaces between navigation, perception, mapping, and web integration.</a:t>
            </a:r>
            <a:endParaRPr sz="16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1B7F3A"/>
          </a:solidFill>
          <a:ln cap="flat" cmpd="sng" w="12700">
            <a:solidFill>
              <a:srgbClr val="1B7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228600" y="109728"/>
            <a:ext cx="8686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Robot ↔ Web Dashboard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8961120" y="146304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Operational workflow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822960" y="1463040"/>
            <a:ext cx="338328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1005840" y="16002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Robot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1005840" y="19659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Detect + log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4617720" y="1463040"/>
            <a:ext cx="338328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4800600" y="16002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4G Modem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4800600" y="19659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Internet link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8412480" y="1463040"/>
            <a:ext cx="338328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8595360" y="16002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8595360" y="19659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Store events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4206240" y="1920240"/>
            <a:ext cx="411480" cy="5029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B7F3A"/>
          </a:solidFill>
          <a:ln cap="flat" cmpd="sng" w="12700">
            <a:solidFill>
              <a:srgbClr val="1B7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8001000" y="1920240"/>
            <a:ext cx="411480" cy="5029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B7F3A"/>
          </a:solidFill>
          <a:ln cap="flat" cmpd="sng" w="12700">
            <a:solidFill>
              <a:srgbClr val="1B7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548640" y="3246120"/>
            <a:ext cx="11338560" cy="2971800"/>
          </a:xfrm>
          <a:prstGeom prst="roundRect">
            <a:avLst>
              <a:gd fmla="val 16667" name="adj"/>
            </a:avLst>
          </a:prstGeom>
          <a:solidFill>
            <a:srgbClr val="E9F6EE"/>
          </a:solidFill>
          <a:ln cap="flat" cmpd="sng" w="12700">
            <a:solidFill>
              <a:srgbClr val="BFE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868680" y="352044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Message: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868680" y="388620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The farm manager gets remote updates in near real-time.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868680" y="4526280"/>
            <a:ext cx="107899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Upload abnormal events (weed / disease)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Buffer locally if the network drops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Show row status + history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תמונה שמכילה מכשיר חשמלי, גאדג'ט, עכבר מחשב, פריפריאלי&#10;&#10;תוכן בינה מלאכותית גנרטיבית עשוי להיות שגוי." id="339" name="Google Shape;3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0" y="3250276"/>
            <a:ext cx="2682933" cy="2689216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6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1B7F3A"/>
          </a:solidFill>
          <a:ln cap="flat" cmpd="sng" w="12700">
            <a:solidFill>
              <a:srgbClr val="1B7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228600" y="109728"/>
            <a:ext cx="8686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USE CASE of the entire system Website + Robot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8961120" y="146304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ROS 2 nodes (agents)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109725" y="636125"/>
            <a:ext cx="11946300" cy="6055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2" name="Google Shape;35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400" y="774525"/>
            <a:ext cx="10402654" cy="577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df25fee85_0_192"/>
          <p:cNvSpPr/>
          <p:nvPr/>
        </p:nvSpPr>
        <p:spPr>
          <a:xfrm>
            <a:off x="47309" y="411425"/>
            <a:ext cx="12192000" cy="5394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25400">
              <a:srgbClr val="000000">
                <a:alpha val="1176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bdf25fee85_0_192"/>
          <p:cNvSpPr/>
          <p:nvPr/>
        </p:nvSpPr>
        <p:spPr>
          <a:xfrm>
            <a:off x="0" y="0"/>
            <a:ext cx="12191700" cy="34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bdf25fee85_0_192"/>
          <p:cNvSpPr/>
          <p:nvPr/>
        </p:nvSpPr>
        <p:spPr>
          <a:xfrm>
            <a:off x="0" y="0"/>
            <a:ext cx="109800" cy="347400"/>
          </a:xfrm>
          <a:prstGeom prst="rect">
            <a:avLst/>
          </a:prstGeom>
          <a:solidFill>
            <a:srgbClr val="1B7F3A"/>
          </a:solidFill>
          <a:ln cap="flat" cmpd="sng" w="12700">
            <a:solidFill>
              <a:srgbClr val="1B7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3bdf25fee85_0_192"/>
          <p:cNvSpPr/>
          <p:nvPr/>
        </p:nvSpPr>
        <p:spPr>
          <a:xfrm>
            <a:off x="251550" y="0"/>
            <a:ext cx="5325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Software Architecture</a:t>
            </a:r>
            <a:endParaRPr b="1" sz="2200">
              <a:solidFill>
                <a:srgbClr val="0B12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bdf25fee85_0_192"/>
          <p:cNvSpPr txBox="1"/>
          <p:nvPr>
            <p:ph idx="12" type="sldNum"/>
          </p:nvPr>
        </p:nvSpPr>
        <p:spPr>
          <a:xfrm>
            <a:off x="11460008" y="623558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3" name="Google Shape;363;g3bdf25fee85_0_1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9984" y="4218816"/>
            <a:ext cx="671600" cy="5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g3bdf25fee85_0_1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6981" y="4177486"/>
            <a:ext cx="1054400" cy="584002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3bdf25fee85_0_192"/>
          <p:cNvSpPr/>
          <p:nvPr/>
        </p:nvSpPr>
        <p:spPr>
          <a:xfrm>
            <a:off x="6301350" y="865925"/>
            <a:ext cx="3555000" cy="4485900"/>
          </a:xfrm>
          <a:prstGeom prst="roundRect">
            <a:avLst>
              <a:gd fmla="val 16667" name="adj"/>
            </a:avLst>
          </a:prstGeom>
          <a:noFill/>
          <a:ln cap="flat" cmpd="sng" w="16900">
            <a:solidFill>
              <a:srgbClr val="008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875" lIns="121750" spcFirstLastPara="1" rIns="121750" wrap="square" tIns="60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4"/>
              <a:buFont typeface="Arial"/>
              <a:buNone/>
            </a:pPr>
            <a:r>
              <a:t/>
            </a:r>
            <a:endParaRPr b="0" i="0" sz="18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bdf25fee85_0_192"/>
          <p:cNvSpPr/>
          <p:nvPr/>
        </p:nvSpPr>
        <p:spPr>
          <a:xfrm>
            <a:off x="504650" y="914400"/>
            <a:ext cx="3506100" cy="4589700"/>
          </a:xfrm>
          <a:prstGeom prst="roundRect">
            <a:avLst>
              <a:gd fmla="val 12355" name="adj"/>
            </a:avLst>
          </a:prstGeom>
          <a:noFill/>
          <a:ln cap="flat" cmpd="sng" w="16900">
            <a:solidFill>
              <a:srgbClr val="008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875" lIns="121750" spcFirstLastPara="1" rIns="121750" wrap="square" tIns="60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4"/>
              <a:buFont typeface="Arial"/>
              <a:buNone/>
            </a:pPr>
            <a:r>
              <a:t/>
            </a:r>
            <a:endParaRPr b="0" i="0" sz="18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bdf25fee85_0_192"/>
          <p:cNvSpPr txBox="1"/>
          <p:nvPr/>
        </p:nvSpPr>
        <p:spPr>
          <a:xfrm>
            <a:off x="1452779" y="639950"/>
            <a:ext cx="15042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6"/>
              <a:buFont typeface="Raleway Thin"/>
              <a:buNone/>
            </a:pPr>
            <a:r>
              <a:rPr b="1" i="0" lang="en-US" sz="186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 side</a:t>
            </a:r>
            <a:endParaRPr b="0" i="0" sz="18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bdf25fee85_0_192"/>
          <p:cNvSpPr txBox="1"/>
          <p:nvPr/>
        </p:nvSpPr>
        <p:spPr>
          <a:xfrm>
            <a:off x="7220223" y="1231465"/>
            <a:ext cx="2346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6"/>
              <a:buFont typeface="Raleway Thin"/>
              <a:buNone/>
            </a:pPr>
            <a:r>
              <a:rPr b="1" i="0" lang="en-US" sz="186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 side</a:t>
            </a:r>
            <a:endParaRPr b="0" i="0" sz="18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9" name="Google Shape;369;g3bdf25fee85_0_1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98075" y="2182350"/>
            <a:ext cx="1236000" cy="12360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0" name="Google Shape;370;g3bdf25fee85_0_192"/>
          <p:cNvCxnSpPr>
            <a:stCxn id="366" idx="3"/>
          </p:cNvCxnSpPr>
          <p:nvPr/>
        </p:nvCxnSpPr>
        <p:spPr>
          <a:xfrm flipH="1" rot="10800000">
            <a:off x="4010750" y="3200550"/>
            <a:ext cx="2403300" cy="8700"/>
          </a:xfrm>
          <a:prstGeom prst="straightConnector1">
            <a:avLst/>
          </a:prstGeom>
          <a:noFill/>
          <a:ln cap="flat" cmpd="sng" w="38075">
            <a:solidFill>
              <a:srgbClr val="585E9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1" name="Google Shape;371;g3bdf25fee85_0_192"/>
          <p:cNvCxnSpPr/>
          <p:nvPr/>
        </p:nvCxnSpPr>
        <p:spPr>
          <a:xfrm flipH="1" rot="10800000">
            <a:off x="9984475" y="2703113"/>
            <a:ext cx="987300" cy="12000"/>
          </a:xfrm>
          <a:prstGeom prst="straightConnector1">
            <a:avLst/>
          </a:prstGeom>
          <a:noFill/>
          <a:ln cap="flat" cmpd="sng" w="38075">
            <a:solidFill>
              <a:srgbClr val="585E9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2" name="Google Shape;372;g3bdf25fee85_0_192"/>
          <p:cNvCxnSpPr/>
          <p:nvPr/>
        </p:nvCxnSpPr>
        <p:spPr>
          <a:xfrm flipH="1">
            <a:off x="9997219" y="3267681"/>
            <a:ext cx="909300" cy="6300"/>
          </a:xfrm>
          <a:prstGeom prst="straightConnector1">
            <a:avLst/>
          </a:prstGeom>
          <a:noFill/>
          <a:ln cap="flat" cmpd="sng" w="38075">
            <a:solidFill>
              <a:srgbClr val="585E9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3" name="Google Shape;373;g3bdf25fee85_0_192"/>
          <p:cNvCxnSpPr/>
          <p:nvPr/>
        </p:nvCxnSpPr>
        <p:spPr>
          <a:xfrm flipH="1">
            <a:off x="4010638" y="3769300"/>
            <a:ext cx="2211600" cy="7800"/>
          </a:xfrm>
          <a:prstGeom prst="straightConnector1">
            <a:avLst/>
          </a:prstGeom>
          <a:noFill/>
          <a:ln cap="flat" cmpd="sng" w="38075">
            <a:solidFill>
              <a:srgbClr val="585E9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4" name="Google Shape;374;g3bdf25fee85_0_192"/>
          <p:cNvSpPr txBox="1"/>
          <p:nvPr/>
        </p:nvSpPr>
        <p:spPr>
          <a:xfrm>
            <a:off x="10971765" y="3537221"/>
            <a:ext cx="15219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6"/>
              <a:buFont typeface="Raleway Thin"/>
              <a:buNone/>
            </a:pPr>
            <a:r>
              <a:rPr b="1" i="0" lang="en-US" sz="186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26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5" name="Google Shape;375;g3bdf25fee85_0_1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84550" y="1740900"/>
            <a:ext cx="1417274" cy="398581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g3bdf25fee85_0_192"/>
          <p:cNvSpPr/>
          <p:nvPr/>
        </p:nvSpPr>
        <p:spPr>
          <a:xfrm>
            <a:off x="1040167" y="3574838"/>
            <a:ext cx="1114500" cy="1377900"/>
          </a:xfrm>
          <a:prstGeom prst="roundRect">
            <a:avLst>
              <a:gd fmla="val 16667" name="adj"/>
            </a:avLst>
          </a:prstGeom>
          <a:noFill/>
          <a:ln cap="flat" cmpd="sng" w="6350">
            <a:solidFill>
              <a:srgbClr val="008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875" lIns="121750" spcFirstLastPara="1" rIns="121750" wrap="square" tIns="60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4"/>
              <a:buFont typeface="Arial"/>
              <a:buNone/>
            </a:pPr>
            <a:r>
              <a:t/>
            </a:r>
            <a:endParaRPr b="0" i="0" sz="18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bdf25fee85_0_192"/>
          <p:cNvSpPr/>
          <p:nvPr/>
        </p:nvSpPr>
        <p:spPr>
          <a:xfrm>
            <a:off x="2462724" y="3516521"/>
            <a:ext cx="1394400" cy="1436100"/>
          </a:xfrm>
          <a:prstGeom prst="roundRect">
            <a:avLst>
              <a:gd fmla="val 16667" name="adj"/>
            </a:avLst>
          </a:prstGeom>
          <a:noFill/>
          <a:ln cap="flat" cmpd="sng" w="6350">
            <a:solidFill>
              <a:srgbClr val="008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875" lIns="121750" spcFirstLastPara="1" rIns="121750" wrap="square" tIns="60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4"/>
              <a:buFont typeface="Arial"/>
              <a:buNone/>
            </a:pPr>
            <a:r>
              <a:t/>
            </a:r>
            <a:endParaRPr b="0" i="0" sz="18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bdf25fee85_0_192"/>
          <p:cNvSpPr txBox="1"/>
          <p:nvPr/>
        </p:nvSpPr>
        <p:spPr>
          <a:xfrm>
            <a:off x="966598" y="3308815"/>
            <a:ext cx="154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6"/>
              <a:buFont typeface="Raleway Thin"/>
              <a:buNone/>
            </a:pPr>
            <a:r>
              <a:t/>
            </a:r>
            <a:endParaRPr b="0" i="0" sz="18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3bdf25fee85_0_192"/>
          <p:cNvSpPr txBox="1"/>
          <p:nvPr/>
        </p:nvSpPr>
        <p:spPr>
          <a:xfrm>
            <a:off x="1571801" y="3275205"/>
            <a:ext cx="17820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6"/>
              <a:buFont typeface="Raleway Thin"/>
              <a:buNone/>
            </a:pPr>
            <a:r>
              <a:rPr b="1" i="0" lang="en-US" sz="186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 Stack</a:t>
            </a:r>
            <a:endParaRPr b="0" i="0" sz="18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bdf25fee85_0_192"/>
          <p:cNvSpPr txBox="1"/>
          <p:nvPr/>
        </p:nvSpPr>
        <p:spPr>
          <a:xfrm>
            <a:off x="7336193" y="1451555"/>
            <a:ext cx="13038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6"/>
              <a:buFont typeface="Raleway Thin"/>
              <a:buNone/>
            </a:pPr>
            <a:r>
              <a:rPr b="1" i="0" lang="en-US" sz="186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(Backend)</a:t>
            </a:r>
            <a:endParaRPr b="0" i="0" sz="18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bdf25fee85_0_192"/>
          <p:cNvSpPr txBox="1"/>
          <p:nvPr/>
        </p:nvSpPr>
        <p:spPr>
          <a:xfrm>
            <a:off x="4576790" y="3368516"/>
            <a:ext cx="17820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6"/>
              <a:buFont typeface="Raleway Thin"/>
              <a:buNone/>
            </a:pPr>
            <a:r>
              <a:rPr b="1" i="0" lang="en-US" sz="1864" u="none" cap="none" strike="noStrike">
                <a:solidFill>
                  <a:srgbClr val="000000"/>
                </a:solidFill>
                <a:latin typeface="Raleway Thin"/>
                <a:ea typeface="Raleway Thin"/>
                <a:cs typeface="Raleway Thin"/>
                <a:sym typeface="Raleway Thin"/>
              </a:rPr>
              <a:t>REST API</a:t>
            </a:r>
            <a:endParaRPr b="0" i="0" sz="1864" u="none" cap="none" strike="noStrike">
              <a:solidFill>
                <a:srgbClr val="000000"/>
              </a:solidFill>
              <a:latin typeface="Raleway Thin"/>
              <a:ea typeface="Raleway Thin"/>
              <a:cs typeface="Raleway Thin"/>
              <a:sym typeface="Raleway Thin"/>
            </a:endParaRPr>
          </a:p>
        </p:txBody>
      </p:sp>
      <p:sp>
        <p:nvSpPr>
          <p:cNvPr id="382" name="Google Shape;382;g3bdf25fee85_0_192"/>
          <p:cNvSpPr txBox="1"/>
          <p:nvPr/>
        </p:nvSpPr>
        <p:spPr>
          <a:xfrm>
            <a:off x="9883250" y="2858125"/>
            <a:ext cx="1054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6"/>
              <a:buFont typeface="Raleway Thi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 API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bdf25fee85_0_192"/>
          <p:cNvSpPr txBox="1"/>
          <p:nvPr/>
        </p:nvSpPr>
        <p:spPr>
          <a:xfrm>
            <a:off x="2592944" y="3666837"/>
            <a:ext cx="15252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6"/>
              <a:buFont typeface="Raleway Thin"/>
              <a:buNone/>
            </a:pPr>
            <a:r>
              <a:rPr b="1" i="0" lang="en-US" sz="186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 b="0" i="0" sz="14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bdf25fee85_0_192"/>
          <p:cNvSpPr txBox="1"/>
          <p:nvPr/>
        </p:nvSpPr>
        <p:spPr>
          <a:xfrm>
            <a:off x="1140889" y="3779283"/>
            <a:ext cx="9759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6"/>
              <a:buFont typeface="Raleway Thin"/>
              <a:buNone/>
            </a:pPr>
            <a:r>
              <a:rPr b="1" i="0" lang="en-US" sz="186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ReactJS</a:t>
            </a:r>
            <a:endParaRPr b="0" i="0" sz="14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bdf25fee85_0_192"/>
          <p:cNvSpPr txBox="1"/>
          <p:nvPr/>
        </p:nvSpPr>
        <p:spPr>
          <a:xfrm>
            <a:off x="8518927" y="3713950"/>
            <a:ext cx="13359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6"/>
              <a:buFont typeface="Raleway Thin"/>
              <a:buNone/>
            </a:pPr>
            <a:r>
              <a:rPr b="1" i="0" lang="en-US" sz="186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 b="0" i="0" sz="18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bdf25fee85_0_192"/>
          <p:cNvSpPr txBox="1"/>
          <p:nvPr/>
        </p:nvSpPr>
        <p:spPr>
          <a:xfrm>
            <a:off x="6605386" y="3713959"/>
            <a:ext cx="9405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6"/>
              <a:buFont typeface="Raleway Thin"/>
              <a:buNone/>
            </a:pPr>
            <a:r>
              <a:rPr b="1" i="0" lang="en-US" sz="186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NodeJS</a:t>
            </a:r>
            <a:endParaRPr b="0" i="0" sz="14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ilwind CSS Logo Vector - (.SVG + .PNG) - GetLogoVector.Com" id="387" name="Google Shape;387;g3bdf25fee85_0_19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11750" y="4596100"/>
            <a:ext cx="812988" cy="29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Complete Javascript Course | Basic ..." id="388" name="Google Shape;388;g3bdf25fee85_0_19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44106" y="3896860"/>
            <a:ext cx="675326" cy="6753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Complete Javascript Course | Basic ..." id="389" name="Google Shape;389;g3bdf25fee85_0_19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88017" y="4009901"/>
            <a:ext cx="675326" cy="675326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3bdf25fee85_0_192"/>
          <p:cNvSpPr/>
          <p:nvPr/>
        </p:nvSpPr>
        <p:spPr>
          <a:xfrm>
            <a:off x="4149702" y="1383717"/>
            <a:ext cx="1467288" cy="1435536"/>
          </a:xfrm>
          <a:prstGeom prst="cloud">
            <a:avLst/>
          </a:prstGeom>
          <a:solidFill>
            <a:srgbClr val="FFFFFF"/>
          </a:solidFill>
          <a:ln cap="flat" cmpd="sng" w="10550">
            <a:solidFill>
              <a:srgbClr val="62A3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425" lIns="60875" spcFirstLastPara="1" rIns="60875" wrap="square" tIns="30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b="0" i="0" lang="en-US" sz="1198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Cloud MQTT</a:t>
            </a:r>
            <a:endParaRPr b="0" i="0" sz="1198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391" name="Google Shape;391;g3bdf25fee85_0_192"/>
          <p:cNvCxnSpPr/>
          <p:nvPr/>
        </p:nvCxnSpPr>
        <p:spPr>
          <a:xfrm>
            <a:off x="5939950" y="2158689"/>
            <a:ext cx="212700" cy="0"/>
          </a:xfrm>
          <a:prstGeom prst="straightConnector1">
            <a:avLst/>
          </a:prstGeom>
          <a:noFill/>
          <a:ln cap="flat" cmpd="sng" w="38075">
            <a:solidFill>
              <a:srgbClr val="585E9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2" name="Google Shape;392;g3bdf25fee85_0_192"/>
          <p:cNvCxnSpPr/>
          <p:nvPr/>
        </p:nvCxnSpPr>
        <p:spPr>
          <a:xfrm flipH="1">
            <a:off x="5364550" y="2155775"/>
            <a:ext cx="575400" cy="900"/>
          </a:xfrm>
          <a:prstGeom prst="straightConnector1">
            <a:avLst/>
          </a:prstGeom>
          <a:noFill/>
          <a:ln cap="flat" cmpd="sng" w="38075">
            <a:solidFill>
              <a:srgbClr val="585E9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3" name="Google Shape;393;g3bdf25fee85_0_192"/>
          <p:cNvCxnSpPr>
            <a:stCxn id="394" idx="1"/>
            <a:endCxn id="395" idx="3"/>
          </p:cNvCxnSpPr>
          <p:nvPr/>
        </p:nvCxnSpPr>
        <p:spPr>
          <a:xfrm rot="10800000">
            <a:off x="2108975" y="2262267"/>
            <a:ext cx="458400" cy="8400"/>
          </a:xfrm>
          <a:prstGeom prst="straightConnector1">
            <a:avLst/>
          </a:prstGeom>
          <a:noFill/>
          <a:ln cap="flat" cmpd="sng" w="38075">
            <a:solidFill>
              <a:srgbClr val="585E9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5" name="Google Shape;395;g3bdf25fee85_0_192"/>
          <p:cNvSpPr/>
          <p:nvPr/>
        </p:nvSpPr>
        <p:spPr>
          <a:xfrm>
            <a:off x="872975" y="2011050"/>
            <a:ext cx="1236000" cy="502200"/>
          </a:xfrm>
          <a:prstGeom prst="roundRect">
            <a:avLst>
              <a:gd fmla="val 16667" name="adj"/>
            </a:avLst>
          </a:prstGeom>
          <a:noFill/>
          <a:ln cap="flat" cmpd="sng" w="6350">
            <a:solidFill>
              <a:srgbClr val="008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875" lIns="121750" spcFirstLastPara="1" rIns="121750" wrap="square" tIns="60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4"/>
              <a:buFont typeface="Arial"/>
              <a:buNone/>
            </a:pPr>
            <a:r>
              <a:t/>
            </a:r>
            <a:endParaRPr b="0" i="0" sz="18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6" name="Google Shape;396;g3bdf25fee85_0_19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501" y="2026051"/>
            <a:ext cx="212700" cy="489222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g3bdf25fee85_0_192"/>
          <p:cNvSpPr txBox="1"/>
          <p:nvPr/>
        </p:nvSpPr>
        <p:spPr>
          <a:xfrm>
            <a:off x="1255675" y="2088013"/>
            <a:ext cx="9759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25" lIns="60875" spcFirstLastPara="1" rIns="60875" wrap="square" tIns="30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4"/>
              <a:buFont typeface="Arial"/>
              <a:buNone/>
            </a:pPr>
            <a:r>
              <a:rPr b="0" i="0" lang="en-US" sz="1864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Sensors</a:t>
            </a:r>
            <a:endParaRPr b="0" i="0" sz="1198" u="none" cap="none" strike="noStrike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398" name="Google Shape;398;g3bdf25fee85_0_192"/>
          <p:cNvCxnSpPr>
            <a:stCxn id="399" idx="3"/>
          </p:cNvCxnSpPr>
          <p:nvPr/>
        </p:nvCxnSpPr>
        <p:spPr>
          <a:xfrm flipH="1" rot="10800000">
            <a:off x="3790650" y="2006502"/>
            <a:ext cx="448800" cy="600"/>
          </a:xfrm>
          <a:prstGeom prst="straightConnector1">
            <a:avLst/>
          </a:prstGeom>
          <a:noFill/>
          <a:ln cap="flat" cmpd="sng" w="38075">
            <a:solidFill>
              <a:srgbClr val="585E9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0" name="Google Shape;400;g3bdf25fee85_0_192"/>
          <p:cNvSpPr/>
          <p:nvPr/>
        </p:nvSpPr>
        <p:spPr>
          <a:xfrm>
            <a:off x="960700" y="3101425"/>
            <a:ext cx="2990400" cy="2079600"/>
          </a:xfrm>
          <a:prstGeom prst="roundRect">
            <a:avLst>
              <a:gd fmla="val 16667" name="adj"/>
            </a:avLst>
          </a:prstGeom>
          <a:noFill/>
          <a:ln cap="flat" cmpd="sng" w="6350">
            <a:solidFill>
              <a:srgbClr val="008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875" lIns="121750" spcFirstLastPara="1" rIns="121750" wrap="square" tIns="60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4"/>
              <a:buFont typeface="Arial"/>
              <a:buNone/>
            </a:pPr>
            <a:r>
              <a:t/>
            </a:r>
            <a:endParaRPr b="0" i="0" sz="18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bdf25fee85_0_192"/>
          <p:cNvSpPr txBox="1"/>
          <p:nvPr/>
        </p:nvSpPr>
        <p:spPr>
          <a:xfrm>
            <a:off x="7004059" y="3249463"/>
            <a:ext cx="19677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6"/>
              <a:buFont typeface="Raleway Thin"/>
              <a:buNone/>
            </a:pPr>
            <a:r>
              <a:rPr b="1" i="0" lang="en-US" sz="186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 Stack</a:t>
            </a:r>
            <a:endParaRPr b="0" i="0" sz="18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2" name="Google Shape;402;g3bdf25fee85_0_19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79383" y="1916268"/>
            <a:ext cx="1417257" cy="1283231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g3bdf25fee85_0_192"/>
          <p:cNvSpPr/>
          <p:nvPr/>
        </p:nvSpPr>
        <p:spPr>
          <a:xfrm>
            <a:off x="6414370" y="3614294"/>
            <a:ext cx="1335900" cy="1305600"/>
          </a:xfrm>
          <a:prstGeom prst="roundRect">
            <a:avLst>
              <a:gd fmla="val 16667" name="adj"/>
            </a:avLst>
          </a:prstGeom>
          <a:noFill/>
          <a:ln cap="flat" cmpd="sng" w="6350">
            <a:solidFill>
              <a:srgbClr val="008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875" lIns="121750" spcFirstLastPara="1" rIns="121750" wrap="square" tIns="60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4"/>
              <a:buFont typeface="Arial"/>
              <a:buNone/>
            </a:pPr>
            <a:r>
              <a:t/>
            </a:r>
            <a:endParaRPr b="0" i="0" sz="18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bdf25fee85_0_192"/>
          <p:cNvSpPr/>
          <p:nvPr/>
        </p:nvSpPr>
        <p:spPr>
          <a:xfrm>
            <a:off x="8429560" y="3619712"/>
            <a:ext cx="1302000" cy="1294800"/>
          </a:xfrm>
          <a:prstGeom prst="roundRect">
            <a:avLst>
              <a:gd fmla="val 16667" name="adj"/>
            </a:avLst>
          </a:prstGeom>
          <a:noFill/>
          <a:ln cap="flat" cmpd="sng" w="6350">
            <a:solidFill>
              <a:srgbClr val="008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875" lIns="121750" spcFirstLastPara="1" rIns="121750" wrap="square" tIns="60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4"/>
              <a:buFont typeface="Arial"/>
              <a:buNone/>
            </a:pPr>
            <a:r>
              <a:t/>
            </a:r>
            <a:endParaRPr b="0" i="0" sz="18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3bdf25fee85_0_192"/>
          <p:cNvSpPr/>
          <p:nvPr/>
        </p:nvSpPr>
        <p:spPr>
          <a:xfrm>
            <a:off x="6301350" y="3209250"/>
            <a:ext cx="3506100" cy="1826700"/>
          </a:xfrm>
          <a:prstGeom prst="roundRect">
            <a:avLst>
              <a:gd fmla="val 16667" name="adj"/>
            </a:avLst>
          </a:prstGeom>
          <a:noFill/>
          <a:ln cap="flat" cmpd="sng" w="6350">
            <a:solidFill>
              <a:srgbClr val="008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875" lIns="121750" spcFirstLastPara="1" rIns="121750" wrap="square" tIns="60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4"/>
              <a:buFont typeface="Arial"/>
              <a:buNone/>
            </a:pPr>
            <a:r>
              <a:t/>
            </a:r>
            <a:endParaRPr b="0" i="0" sz="18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" name="Google Shape;394;g3bdf25fee85_0_19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567375" y="1756251"/>
            <a:ext cx="1155600" cy="1028832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3bdf25fee85_0_192"/>
          <p:cNvSpPr/>
          <p:nvPr/>
        </p:nvSpPr>
        <p:spPr>
          <a:xfrm>
            <a:off x="687150" y="967302"/>
            <a:ext cx="3103500" cy="2079600"/>
          </a:xfrm>
          <a:prstGeom prst="roundRect">
            <a:avLst>
              <a:gd fmla="val 16667" name="adj"/>
            </a:avLst>
          </a:prstGeom>
          <a:noFill/>
          <a:ln cap="flat" cmpd="sng" w="6350">
            <a:solidFill>
              <a:srgbClr val="008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875" lIns="121750" spcFirstLastPara="1" rIns="121750" wrap="square" tIns="60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4"/>
              <a:buFont typeface="Arial"/>
              <a:buNone/>
            </a:pPr>
            <a:r>
              <a:t/>
            </a:r>
            <a:endParaRPr b="0" i="0" sz="18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bdf25fee85_0_192"/>
          <p:cNvSpPr txBox="1"/>
          <p:nvPr/>
        </p:nvSpPr>
        <p:spPr>
          <a:xfrm>
            <a:off x="832800" y="1357111"/>
            <a:ext cx="28122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96"/>
              <a:buFont typeface="Raleway Thin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 2 Humble microservices</a:t>
            </a:r>
            <a:endParaRPr b="1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7" name="Google Shape;407;g3bdf25fee85_0_192" title="ROS2_logo (1)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32800" y="1110020"/>
            <a:ext cx="731700" cy="177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8"/>
          <p:cNvSpPr/>
          <p:nvPr/>
        </p:nvSpPr>
        <p:spPr>
          <a:xfrm>
            <a:off x="150" y="0"/>
            <a:ext cx="12191700" cy="397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8"/>
          <p:cNvSpPr/>
          <p:nvPr/>
        </p:nvSpPr>
        <p:spPr>
          <a:xfrm>
            <a:off x="0" y="0"/>
            <a:ext cx="109800" cy="370800"/>
          </a:xfrm>
          <a:prstGeom prst="rect">
            <a:avLst/>
          </a:prstGeom>
          <a:solidFill>
            <a:srgbClr val="1B7F3A"/>
          </a:solidFill>
          <a:ln cap="flat" cmpd="sng" w="12700">
            <a:solidFill>
              <a:srgbClr val="1B7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228600" y="0"/>
            <a:ext cx="409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Key Requirements &amp; Metrics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/>
          <p:nvPr/>
        </p:nvSpPr>
        <p:spPr>
          <a:xfrm>
            <a:off x="8961120" y="77429"/>
            <a:ext cx="3017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How we measure success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8" name="Google Shape;4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00" y="645625"/>
            <a:ext cx="5761049" cy="263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021" y="806481"/>
            <a:ext cx="4206955" cy="684674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18"/>
          <p:cNvSpPr txBox="1"/>
          <p:nvPr/>
        </p:nvSpPr>
        <p:spPr>
          <a:xfrm>
            <a:off x="930649" y="865584"/>
            <a:ext cx="4206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00" lIns="86700" spcFirstLastPara="1" rIns="86700" wrap="square" tIns="86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Performance &amp; AI</a:t>
            </a:r>
            <a:endParaRPr b="1" sz="18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8"/>
          <p:cNvSpPr txBox="1"/>
          <p:nvPr/>
        </p:nvSpPr>
        <p:spPr>
          <a:xfrm>
            <a:off x="716302" y="1491150"/>
            <a:ext cx="4418400" cy="15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00" lIns="86700" spcFirstLastPara="1" rIns="86700" wrap="square" tIns="86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Scan cycle ≤ 20 min</a:t>
            </a:r>
            <a:endParaRPr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Inference ≥ 20 FPS @ 640×640 (Pi 5 + Hailo-8)</a:t>
            </a:r>
            <a:endParaRPr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Healthy Lettuce mAP@0.5 ≥ 0.85</a:t>
            </a:r>
            <a:endParaRPr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Leaf Disease mAP@0.5 ≥ 0.80</a:t>
            </a:r>
            <a:endParaRPr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Weed mAP@0.5 ≥ 0.80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2" name="Google Shape;4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00" y="3529800"/>
            <a:ext cx="11620851" cy="1882025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8"/>
          <p:cNvSpPr txBox="1"/>
          <p:nvPr/>
        </p:nvSpPr>
        <p:spPr>
          <a:xfrm>
            <a:off x="970950" y="4337250"/>
            <a:ext cx="7077000" cy="9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00" lIns="86700" spcFirstLastPara="1" rIns="86700" wrap="square" tIns="86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Upload latency: avg ≤ 5 s; 95% ≤ 30 s (4G)</a:t>
            </a:r>
            <a:endParaRPr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data loss up to 30 min disconnection (buffering)</a:t>
            </a:r>
            <a:endParaRPr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Dashboard access: authenticated user (Firebase Auth)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970950" y="3709275"/>
            <a:ext cx="10115100" cy="567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2700">
            <a:solidFill>
              <a:srgbClr val="BFE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 txBox="1"/>
          <p:nvPr/>
        </p:nvSpPr>
        <p:spPr>
          <a:xfrm>
            <a:off x="930649" y="3749771"/>
            <a:ext cx="4206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00" lIns="86700" spcFirstLastPara="1" rIns="86700" wrap="square" tIns="86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Cloud / Data / Security</a:t>
            </a:r>
            <a:endParaRPr b="1" sz="18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6" name="Google Shape;42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7475" y="645625"/>
            <a:ext cx="5761049" cy="257255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8"/>
          <p:cNvSpPr txBox="1"/>
          <p:nvPr/>
        </p:nvSpPr>
        <p:spPr>
          <a:xfrm>
            <a:off x="6888802" y="1491150"/>
            <a:ext cx="4418400" cy="12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00" lIns="86700" spcFirstLastPara="1" rIns="86700" wrap="square" tIns="86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Lateral error: mean ≤ 10 cm, max ≤ 20 cm</a:t>
            </a:r>
            <a:endParaRPr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Obstacle detect ≥ 0.3 m; stop distance ≤ 0.1 m</a:t>
            </a:r>
            <a:endParaRPr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Abnormal-event threshold ≥ 0.70 (configurable)</a:t>
            </a:r>
            <a:endParaRPr sz="16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6879225" y="801087"/>
            <a:ext cx="4206900" cy="567000"/>
          </a:xfrm>
          <a:prstGeom prst="roundRect">
            <a:avLst>
              <a:gd fmla="val 16667" name="adj"/>
            </a:avLst>
          </a:prstGeom>
          <a:solidFill>
            <a:srgbClr val="BFE6C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 txBox="1"/>
          <p:nvPr/>
        </p:nvSpPr>
        <p:spPr>
          <a:xfrm>
            <a:off x="6879224" y="865584"/>
            <a:ext cx="42069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00" lIns="86700" spcFirstLastPara="1" rIns="86700" wrap="square" tIns="86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Safety &amp; Navigation</a:t>
            </a:r>
            <a:endParaRPr b="1" sz="18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9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9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1B7F3A"/>
          </a:solidFill>
          <a:ln cap="flat" cmpd="sng" w="12700">
            <a:solidFill>
              <a:srgbClr val="1B7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9"/>
          <p:cNvSpPr/>
          <p:nvPr/>
        </p:nvSpPr>
        <p:spPr>
          <a:xfrm>
            <a:off x="228600" y="109728"/>
            <a:ext cx="8686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Phase A Progress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9"/>
          <p:cNvSpPr/>
          <p:nvPr/>
        </p:nvSpPr>
        <p:spPr>
          <a:xfrm>
            <a:off x="8961120" y="146304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What is already done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7452360" y="914400"/>
            <a:ext cx="4736592" cy="5394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25400">
              <a:srgbClr val="000000">
                <a:alpha val="11764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7726680" y="118872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Delivered in Phase 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7726680" y="1691640"/>
            <a:ext cx="4206240" cy="1680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Built 4×4 robot platform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Integrated camera + LiDAR + IMU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YOLO detection pipeline on Pi + Hailo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m5stick connected with sensors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7726680" y="4983480"/>
            <a:ext cx="4206240" cy="1143000"/>
          </a:xfrm>
          <a:prstGeom prst="roundRect">
            <a:avLst>
              <a:gd fmla="val 16667" name="adj"/>
            </a:avLst>
          </a:prstGeom>
          <a:solidFill>
            <a:srgbClr val="E9F6EE"/>
          </a:solidFill>
          <a:ln cap="flat" cmpd="sng" w="12700">
            <a:solidFill>
              <a:srgbClr val="BFE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7955280" y="516636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Next: validate metrics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in real greenhouse runs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4" name="Google Shape;444;p19"/>
          <p:cNvPicPr preferRelativeResize="0"/>
          <p:nvPr/>
        </p:nvPicPr>
        <p:blipFill rotWithShape="1">
          <a:blip r:embed="rId3">
            <a:alphaModFix/>
          </a:blip>
          <a:srcRect b="9950" l="0" r="0" t="0"/>
          <a:stretch/>
        </p:blipFill>
        <p:spPr>
          <a:xfrm>
            <a:off x="520013" y="914412"/>
            <a:ext cx="6742899" cy="5775426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1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0"/>
          <p:cNvSpPr/>
          <p:nvPr/>
        </p:nvSpPr>
        <p:spPr>
          <a:xfrm>
            <a:off x="0" y="0"/>
            <a:ext cx="109728" cy="566928"/>
          </a:xfrm>
          <a:prstGeom prst="rect">
            <a:avLst/>
          </a:prstGeom>
          <a:solidFill>
            <a:srgbClr val="1B7F3A"/>
          </a:solidFill>
          <a:ln cap="flat" cmpd="sng" w="12700">
            <a:solidFill>
              <a:srgbClr val="1B7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0"/>
          <p:cNvSpPr/>
          <p:nvPr/>
        </p:nvSpPr>
        <p:spPr>
          <a:xfrm>
            <a:off x="228600" y="109728"/>
            <a:ext cx="8686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Phase B (Next)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0"/>
          <p:cNvSpPr/>
          <p:nvPr/>
        </p:nvSpPr>
        <p:spPr>
          <a:xfrm>
            <a:off x="8961120" y="146304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Plan + Questions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phaseA_docx_media/word/media/image2.png" id="455" name="Google Shape;455;p20"/>
          <p:cNvPicPr preferRelativeResize="0"/>
          <p:nvPr/>
        </p:nvPicPr>
        <p:blipFill rotWithShape="1">
          <a:blip r:embed="rId3">
            <a:alphaModFix/>
          </a:blip>
          <a:srcRect b="3350" l="0" r="0" t="3349"/>
          <a:stretch/>
        </p:blipFill>
        <p:spPr>
          <a:xfrm>
            <a:off x="109725" y="566928"/>
            <a:ext cx="12191696" cy="6291072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0"/>
          <p:cNvSpPr/>
          <p:nvPr/>
        </p:nvSpPr>
        <p:spPr>
          <a:xfrm>
            <a:off x="822950" y="1325876"/>
            <a:ext cx="6400800" cy="3345300"/>
          </a:xfrm>
          <a:prstGeom prst="roundRect">
            <a:avLst>
              <a:gd fmla="val 16667" name="adj"/>
            </a:avLst>
          </a:prstGeom>
          <a:solidFill>
            <a:srgbClr val="FFFFFF">
              <a:alpha val="93725"/>
            </a:srgbClr>
          </a:solidFill>
          <a:ln cap="flat" cmpd="sng" w="12700">
            <a:solidFill>
              <a:srgbClr val="D9DE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25400">
              <a:srgbClr val="000000">
                <a:alpha val="1764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1143000" y="1600200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Phase B focus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"/>
          <p:cNvSpPr/>
          <p:nvPr/>
        </p:nvSpPr>
        <p:spPr>
          <a:xfrm>
            <a:off x="1143000" y="2148840"/>
            <a:ext cx="5852160" cy="2118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Run full scans in the greenhouse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Measure mAP / precision / recall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Measure navigation accuracy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Creating </a:t>
            </a:r>
            <a:r>
              <a:rPr lang="en-US" sz="20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dataset for hard lighting cases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Finalize web dashboard for daily use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7543800" y="1325880"/>
            <a:ext cx="4526280" cy="4480560"/>
          </a:xfrm>
          <a:prstGeom prst="roundRect">
            <a:avLst>
              <a:gd fmla="val 16667" name="adj"/>
            </a:avLst>
          </a:prstGeom>
          <a:solidFill>
            <a:srgbClr val="E9F6EE"/>
          </a:solidFill>
          <a:ln cap="flat" cmpd="sng" w="12700">
            <a:solidFill>
              <a:srgbClr val="BFE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0"/>
          <p:cNvSpPr/>
          <p:nvPr/>
        </p:nvSpPr>
        <p:spPr>
          <a:xfrm>
            <a:off x="7863840" y="1965960"/>
            <a:ext cx="3886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0"/>
          <p:cNvSpPr/>
          <p:nvPr/>
        </p:nvSpPr>
        <p:spPr>
          <a:xfrm>
            <a:off x="7863840" y="278892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5B6475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0"/>
          <p:cNvSpPr/>
          <p:nvPr/>
        </p:nvSpPr>
        <p:spPr>
          <a:xfrm>
            <a:off x="7863840" y="3429000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Israel Ohayun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4" name="Google Shape;464;p20" title="raspbot_original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51350" y="4005074"/>
            <a:ext cx="1723361" cy="1669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ערכת נושא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2026-01-05T23:38:51Z</dcterms:created>
  <dc:creator>PptxGenJS</dc:creator>
</cp:coreProperties>
</file>